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xsnjohnson/github/seiu-website/resources/zoom-backgrounds/2026-bargaining/SEIU-503-Bargaining-2026-Campus-Landscape.png">    </p:cNvPr>
          <p:cNvPicPr>
            <a:picLocks noChangeAspect="1"/>
          </p:cNvPicPr>
          <p:nvPr/>
        </p:nvPicPr>
        <p:blipFill>
          <a:blip r:embed="rId1"/>
          <a:srcRect l="24751" r="24751" t="0" b="0"/>
          <a:stretch/>
        </p:blipFill>
        <p:spPr>
          <a:xfrm>
            <a:off x="6035040" y="0"/>
            <a:ext cx="61566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35040" y="0"/>
            <a:ext cx="6156655" cy="6858000"/>
          </a:xfrm>
          <a:prstGeom prst="rect">
            <a:avLst/>
          </a:prstGeom>
          <a:solidFill>
            <a:srgbClr val="4C1D95">
              <a:alpha val="62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pic>
        <p:nvPicPr>
          <p:cNvPr id="5" name="Image 1" descr="/Users/jaxsnjohnson/github/seiu-website/image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75" y="713232"/>
            <a:ext cx="689946" cy="7132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91056" y="9326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SEIU Local 083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13232" y="1664208"/>
            <a:ext cx="52120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Membership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Meeting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749808" y="324612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9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Bargaining update, member action, and what we do next.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749808" y="4224528"/>
            <a:ext cx="1609344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59536" y="4352544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Thursday, May 21, 2026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487168" y="4224528"/>
            <a:ext cx="1609344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596896" y="4352544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Noon to 1 p.m.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224528" y="4224528"/>
            <a:ext cx="1609344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334256" y="4352544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 211 or Zoom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49808" y="51663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union is member-run. This meeting is where we hear what is happening, make the stakes plain, and leave with the next action.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SEIU Local 503 at Oregon State University</a:t>
            </a:r>
            <a:endParaRPr lang="en-US" sz="920" dirty="0"/>
          </a:p>
        </p:txBody>
      </p:sp>
      <p:sp>
        <p:nvSpPr>
          <p:cNvPr id="3" name="Text 1"/>
          <p:cNvSpPr/>
          <p:nvPr/>
        </p:nvSpPr>
        <p:spPr>
          <a:xfrm>
            <a:off x="7589520" y="3474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83564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658368" y="713232"/>
            <a:ext cx="1087221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05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94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Today's agenda</a:t>
            </a:r>
            <a:endParaRPr lang="en-US" sz="2494" dirty="0"/>
          </a:p>
        </p:txBody>
      </p:sp>
      <p:sp>
        <p:nvSpPr>
          <p:cNvPr id="7" name="Text 5"/>
          <p:cNvSpPr/>
          <p:nvPr/>
        </p:nvSpPr>
        <p:spPr>
          <a:xfrm>
            <a:off x="658368" y="1847088"/>
            <a:ext cx="841248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Bargaining facts, member voices, and clear next steps.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633472"/>
            <a:ext cx="8092440" cy="512064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779776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27632" y="2734056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and introductions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822960" y="3145536"/>
            <a:ext cx="8092440" cy="512064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29184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27632" y="32461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Bargaining update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80924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80390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27632" y="3758184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Membership update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822960" y="4169664"/>
            <a:ext cx="80924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315968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2702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management's offer means for us</a:t>
            </a:r>
            <a:endParaRPr lang="en-US" sz="1850" dirty="0"/>
          </a:p>
        </p:txBody>
      </p:sp>
      <p:sp>
        <p:nvSpPr>
          <p:cNvPr id="20" name="Shape 18"/>
          <p:cNvSpPr/>
          <p:nvPr/>
        </p:nvSpPr>
        <p:spPr>
          <a:xfrm>
            <a:off x="822960" y="4681728"/>
            <a:ext cx="80924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828032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27632" y="478231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Workday transition CTA</a:t>
            </a:r>
            <a:endParaRPr lang="en-US" sz="1850" dirty="0"/>
          </a:p>
        </p:txBody>
      </p:sp>
      <p:sp>
        <p:nvSpPr>
          <p:cNvPr id="23" name="Shape 21"/>
          <p:cNvSpPr/>
          <p:nvPr/>
        </p:nvSpPr>
        <p:spPr>
          <a:xfrm>
            <a:off x="822960" y="5193792"/>
            <a:ext cx="80924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5340096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27632" y="5294376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Rally for our Future</a:t>
            </a:r>
            <a:endParaRPr lang="en-US" sz="1850" dirty="0"/>
          </a:p>
        </p:txBody>
      </p:sp>
      <p:sp>
        <p:nvSpPr>
          <p:cNvPr id="26" name="Shape 24"/>
          <p:cNvSpPr/>
          <p:nvPr/>
        </p:nvSpPr>
        <p:spPr>
          <a:xfrm>
            <a:off x="822960" y="5705856"/>
            <a:ext cx="80924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585216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27632" y="58064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and next steps</a:t>
            </a:r>
            <a:endParaRPr lang="en-US" sz="1850" dirty="0"/>
          </a:p>
        </p:txBody>
      </p:sp>
      <p:sp>
        <p:nvSpPr>
          <p:cNvPr id="29" name="Shape 27"/>
          <p:cNvSpPr/>
          <p:nvPr/>
        </p:nvSpPr>
        <p:spPr>
          <a:xfrm>
            <a:off x="9281160" y="2633472"/>
            <a:ext cx="1828800" cy="2788920"/>
          </a:xfrm>
          <a:prstGeom prst="roundRect">
            <a:avLst>
              <a:gd name="adj" fmla="val 4000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00032" y="3090672"/>
            <a:ext cx="13533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Leave with one action you can take and one coworker you can bring in.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58368" y="647395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Membership meeting | May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SEIU Local 503 at Oregon State University</a:t>
            </a:r>
            <a:endParaRPr lang="en-US" sz="920" dirty="0"/>
          </a:p>
        </p:txBody>
      </p:sp>
      <p:sp>
        <p:nvSpPr>
          <p:cNvPr id="3" name="Text 1"/>
          <p:cNvSpPr/>
          <p:nvPr/>
        </p:nvSpPr>
        <p:spPr>
          <a:xfrm>
            <a:off x="7589520" y="3474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83564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658368" y="713232"/>
            <a:ext cx="1087221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05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94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Welcome and introductions</a:t>
            </a:r>
            <a:endParaRPr lang="en-US" sz="2494" dirty="0"/>
          </a:p>
        </p:txBody>
      </p:sp>
      <p:sp>
        <p:nvSpPr>
          <p:cNvPr id="7" name="Text 5"/>
          <p:cNvSpPr/>
          <p:nvPr/>
        </p:nvSpPr>
        <p:spPr>
          <a:xfrm>
            <a:off x="658368" y="1847088"/>
            <a:ext cx="841248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union is led by members who represent our shared interests.</a:t>
            </a:r>
            <a:endParaRPr lang="en-US" sz="1800" dirty="0"/>
          </a:p>
        </p:txBody>
      </p:sp>
      <p:pic>
        <p:nvPicPr>
          <p:cNvPr id="8" name="Image 0" descr="/Users/jaxsnjohnson/github/seiu-website/images/5aae970a-ef7b-4ce3-9510-b28435672bf7-jax-headshot.web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2395728"/>
            <a:ext cx="1417320" cy="1417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514600" y="233172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88920" y="2432304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PRESIDENT AND COMMUNICATIONS CHAIR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88920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Jax SN Johnson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788920" y="30175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 the meeting and grounding us in the work ahead.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0" y="2331720"/>
            <a:ext cx="4297680" cy="2240280"/>
          </a:xfrm>
          <a:prstGeom prst="roundRect">
            <a:avLst>
              <a:gd name="adj" fmla="val 3265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11696" y="26517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Updated Sublocal 083 leadership team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6812280" y="3017520"/>
            <a:ext cx="3566160" cy="1585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38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James Pavis, vice president</a:t>
            </a:r>
            <a:endParaRPr lang="en-US" sz="138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38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Richard Keuneke, chief steward</a:t>
            </a:r>
            <a:endParaRPr lang="en-US" sz="138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38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Jacob Harold, membership coordinator</a:t>
            </a:r>
            <a:endParaRPr lang="en-US" sz="138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38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Gabriel Labarca, secretary</a:t>
            </a:r>
            <a:endParaRPr lang="en-US" sz="138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38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Vinay Ramakrishnan, treasurer</a:t>
            </a:r>
            <a:endParaRPr lang="en-US" sz="1380" dirty="0"/>
          </a:p>
        </p:txBody>
      </p:sp>
      <p:sp>
        <p:nvSpPr>
          <p:cNvPr id="16" name="Shape 13"/>
          <p:cNvSpPr/>
          <p:nvPr/>
        </p:nvSpPr>
        <p:spPr>
          <a:xfrm>
            <a:off x="822960" y="4864608"/>
            <a:ext cx="9875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78992" y="5074920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Member-run means members shape the priorities, show up for each other, and make the contract campaign visible across campus.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658368" y="647395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Membership meeting | May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SEIU Local 503 at Oregon State University</a:t>
            </a:r>
            <a:endParaRPr lang="en-US" sz="920" dirty="0"/>
          </a:p>
        </p:txBody>
      </p:sp>
      <p:sp>
        <p:nvSpPr>
          <p:cNvPr id="3" name="Text 1"/>
          <p:cNvSpPr/>
          <p:nvPr/>
        </p:nvSpPr>
        <p:spPr>
          <a:xfrm>
            <a:off x="7589520" y="3474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Bargaining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83564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658368" y="713232"/>
            <a:ext cx="1087221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05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94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Bargaining update</a:t>
            </a:r>
            <a:endParaRPr lang="en-US" sz="2494" dirty="0"/>
          </a:p>
        </p:txBody>
      </p:sp>
      <p:sp>
        <p:nvSpPr>
          <p:cNvPr id="7" name="Text 5"/>
          <p:cNvSpPr/>
          <p:nvPr/>
        </p:nvSpPr>
        <p:spPr>
          <a:xfrm>
            <a:off x="658368" y="18470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 has put takeaways on the table. Our union is fighting for standards members can live with.</a:t>
            </a:r>
            <a:endParaRPr lang="en-US" sz="1800" dirty="0"/>
          </a:p>
        </p:txBody>
      </p:sp>
      <p:pic>
        <p:nvPicPr>
          <p:cNvPr id="8" name="Image 0" descr="/Users/jaxsnjohnson/github/seiu-website/resources/zoom-backgrounds/2026-bargaining/SEIU-503-Bargaining-2026-Fists-Landscape.png">    </p:cNvPr>
          <p:cNvPicPr>
            <a:picLocks noChangeAspect="1"/>
          </p:cNvPicPr>
          <p:nvPr/>
        </p:nvPicPr>
        <p:blipFill>
          <a:blip r:embed="rId1"/>
          <a:srcRect l="0" r="0" t="4354" b="4354"/>
          <a:stretch/>
        </p:blipFill>
        <p:spPr>
          <a:xfrm>
            <a:off x="7543800" y="2743200"/>
            <a:ext cx="3383280" cy="1737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2761488"/>
            <a:ext cx="2971800" cy="1060704"/>
          </a:xfrm>
          <a:prstGeom prst="roundRect">
            <a:avLst>
              <a:gd name="adj" fmla="val 6897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60704" y="292608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Fair wages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60704" y="32186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raises, longevity, and pay that keeps up with costs.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069080" y="2761488"/>
            <a:ext cx="29718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06824" y="292608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Benefits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306824" y="32186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health coverage and pay schedule options.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22960" y="3840480"/>
            <a:ext cx="29718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0704" y="40050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Union power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060704" y="4297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Orientations, steward access, and enforceable rights.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069080" y="3840480"/>
            <a:ext cx="29718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06824" y="40050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Employee protections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4306824" y="4297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AI, monitoring, leave, safety gear, weather, and immigration protections.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7452360" y="470916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54112" y="5010912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issue is not just one proposal. It is whether management can make our contract weaker while members absorb the cost.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658368" y="647395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Membership meeting | May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SEIU Local 503 at Oregon State University</a:t>
            </a:r>
            <a:endParaRPr lang="en-US" sz="920" dirty="0"/>
          </a:p>
        </p:txBody>
      </p:sp>
      <p:sp>
        <p:nvSpPr>
          <p:cNvPr id="3" name="Text 1"/>
          <p:cNvSpPr/>
          <p:nvPr/>
        </p:nvSpPr>
        <p:spPr>
          <a:xfrm>
            <a:off x="7589520" y="3474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Bargaining side-by-side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83564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658368" y="713232"/>
            <a:ext cx="1087221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05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94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offer on the table</a:t>
            </a:r>
            <a:endParaRPr lang="en-US" sz="2494" dirty="0"/>
          </a:p>
        </p:txBody>
      </p:sp>
      <p:sp>
        <p:nvSpPr>
          <p:cNvPr id="7" name="Text 5"/>
          <p:cNvSpPr/>
          <p:nvPr/>
        </p:nvSpPr>
        <p:spPr>
          <a:xfrm>
            <a:off x="658368" y="184708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this side-by-side to talk with coworkers about what is at stake.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377440"/>
            <a:ext cx="4892040" cy="3474720"/>
          </a:xfrm>
          <a:prstGeom prst="roundRect">
            <a:avLst>
              <a:gd name="adj" fmla="val 2105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89320" y="2377440"/>
            <a:ext cx="4892040" cy="3474720"/>
          </a:xfrm>
          <a:prstGeom prst="roundRect">
            <a:avLst>
              <a:gd name="adj" fmla="val 2105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651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7F1D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Management proposals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309360" y="2651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532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Our union proposals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143000" y="3154680"/>
            <a:ext cx="4160520" cy="1846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62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wage proposal until May 14</a:t>
            </a:r>
            <a:endParaRPr lang="en-US" sz="162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62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overtime and reduce earnings</a:t>
            </a:r>
            <a:endParaRPr lang="en-US" sz="162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62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Doctor's note after 3 sick days</a:t>
            </a:r>
            <a:endParaRPr lang="en-US" sz="162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62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 bereavement leave</a:t>
            </a:r>
            <a:endParaRPr lang="en-US" sz="162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62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Complicate vacation cash-out</a:t>
            </a:r>
            <a:endParaRPr lang="en-US" sz="1620" dirty="0"/>
          </a:p>
        </p:txBody>
      </p:sp>
      <p:sp>
        <p:nvSpPr>
          <p:cNvPr id="13" name="Text 11"/>
          <p:cNvSpPr/>
          <p:nvPr/>
        </p:nvSpPr>
        <p:spPr>
          <a:xfrm>
            <a:off x="6309360" y="3154680"/>
            <a:ext cx="4160520" cy="1846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62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2026: CPI + 3%, at least 4%</a:t>
            </a:r>
            <a:endParaRPr lang="en-US" sz="162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62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2027: CPI + 2%, at least 4%</a:t>
            </a:r>
            <a:endParaRPr lang="en-US" sz="162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62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Longevity premium</a:t>
            </a:r>
            <a:endParaRPr lang="en-US" sz="162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62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32-hour workweek pilot</a:t>
            </a:r>
            <a:endParaRPr lang="en-US" sz="162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62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AI, monitoring, and benefits protections</a:t>
            </a:r>
            <a:endParaRPr lang="en-US" sz="1620" dirty="0"/>
          </a:p>
        </p:txBody>
      </p:sp>
      <p:sp>
        <p:nvSpPr>
          <p:cNvPr id="14" name="Text 12"/>
          <p:cNvSpPr/>
          <p:nvPr/>
        </p:nvSpPr>
        <p:spPr>
          <a:xfrm>
            <a:off x="658368" y="647395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Membership meeting | May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SEIU Local 503 at Oregon State University</a:t>
            </a:r>
            <a:endParaRPr lang="en-US" sz="920" dirty="0"/>
          </a:p>
        </p:txBody>
      </p:sp>
      <p:sp>
        <p:nvSpPr>
          <p:cNvPr id="3" name="Text 1"/>
          <p:cNvSpPr/>
          <p:nvPr/>
        </p:nvSpPr>
        <p:spPr>
          <a:xfrm>
            <a:off x="7589520" y="3474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Bargaining delegate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83564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658368" y="713232"/>
            <a:ext cx="1087221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05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94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Bargaining delegate report</a:t>
            </a:r>
            <a:endParaRPr lang="en-US" sz="2494" dirty="0"/>
          </a:p>
        </p:txBody>
      </p:sp>
      <p:sp>
        <p:nvSpPr>
          <p:cNvPr id="7" name="Text 5"/>
          <p:cNvSpPr/>
          <p:nvPr/>
        </p:nvSpPr>
        <p:spPr>
          <a:xfrm>
            <a:off x="658368" y="18470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Space for the bargaining delegate to explain what members need to know now.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761488"/>
            <a:ext cx="2578608" cy="512064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889504"/>
            <a:ext cx="2359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changed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75888" y="2761488"/>
            <a:ext cx="2578608" cy="512064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5616" y="2889504"/>
            <a:ext cx="2359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management is offering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28816" y="2761488"/>
            <a:ext cx="2578608" cy="512064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38544" y="2889504"/>
            <a:ext cx="2359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members need to understand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520440"/>
            <a:ext cx="10012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5230368"/>
            <a:ext cx="9372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5413248"/>
            <a:ext cx="9372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space for live remarks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647395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Membership meeting | May 21,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SEIU Local 503 at Oregon State University</a:t>
            </a:r>
            <a:endParaRPr lang="en-US" sz="920" dirty="0"/>
          </a:p>
        </p:txBody>
      </p:sp>
      <p:sp>
        <p:nvSpPr>
          <p:cNvPr id="3" name="Text 1"/>
          <p:cNvSpPr/>
          <p:nvPr/>
        </p:nvSpPr>
        <p:spPr>
          <a:xfrm>
            <a:off x="7589520" y="3474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Membership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83564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658368" y="713232"/>
            <a:ext cx="1087221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05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94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Membership builds bargaining power</a:t>
            </a:r>
            <a:endParaRPr lang="en-US" sz="2494" dirty="0"/>
          </a:p>
        </p:txBody>
      </p:sp>
      <p:sp>
        <p:nvSpPr>
          <p:cNvPr id="7" name="Text 5"/>
          <p:cNvSpPr/>
          <p:nvPr/>
        </p:nvSpPr>
        <p:spPr>
          <a:xfrm>
            <a:off x="658368" y="18470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Rodger White: space to talk about signing members and moving coworkers to action.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761488"/>
            <a:ext cx="2971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291693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Who signs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60704" y="32186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coworker who wants a voice and vote in our union.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4160520" y="2761488"/>
            <a:ext cx="2971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8264" y="291693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398264" y="32186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 ratify contracts, elect leaders, and shape our priorities.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7498080" y="2761488"/>
            <a:ext cx="2971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35824" y="291693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coworkers do next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35824" y="32186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Join, ask questions, and bring one coworker into the meeting or rally.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822960" y="4315968"/>
            <a:ext cx="10012680" cy="1143000"/>
          </a:xfrm>
          <a:prstGeom prst="roundRect">
            <a:avLst>
              <a:gd name="adj" fmla="val 6400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460857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Become a full member to have a voice and a vote.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58368" y="647395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Membership meeting | May 21,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SEIU Local 503 at Oregon State University</a:t>
            </a:r>
            <a:endParaRPr lang="en-US" sz="920" dirty="0"/>
          </a:p>
        </p:txBody>
      </p:sp>
      <p:sp>
        <p:nvSpPr>
          <p:cNvPr id="3" name="Text 1"/>
          <p:cNvSpPr/>
          <p:nvPr/>
        </p:nvSpPr>
        <p:spPr>
          <a:xfrm>
            <a:off x="7589520" y="3474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 impact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83564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658368" y="713232"/>
            <a:ext cx="1087221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05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94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these offers would do to us</a:t>
            </a:r>
            <a:endParaRPr lang="en-US" sz="2494" dirty="0"/>
          </a:p>
        </p:txBody>
      </p:sp>
      <p:sp>
        <p:nvSpPr>
          <p:cNvPr id="7" name="Text 5"/>
          <p:cNvSpPr/>
          <p:nvPr/>
        </p:nvSpPr>
        <p:spPr>
          <a:xfrm>
            <a:off x="658368" y="18470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Vice President James Pavis: space to connect the offer to daily work, pay, leave, and enforceable rights.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41248" y="2514600"/>
            <a:ext cx="4251960" cy="713232"/>
          </a:xfrm>
          <a:prstGeom prst="roundRect">
            <a:avLst>
              <a:gd name="adj" fmla="val 10256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67919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31720" y="2660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overtime and no real raises mean members carry the cost.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41248" y="3337560"/>
            <a:ext cx="4251960" cy="713232"/>
          </a:xfrm>
          <a:prstGeom prst="roundRect">
            <a:avLst>
              <a:gd name="adj" fmla="val 10256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50215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Leave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31720" y="3483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Shorter sick-note timelines and bereavement caps add pressure when members are already stretched.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41248" y="4160520"/>
            <a:ext cx="4251960" cy="713232"/>
          </a:xfrm>
          <a:prstGeom prst="roundRect">
            <a:avLst>
              <a:gd name="adj" fmla="val 10256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432511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Workplace power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331720" y="43068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weaker article makes it harder to enforce the contract later.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23560" y="2514600"/>
            <a:ext cx="52120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5047488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5230368"/>
            <a:ext cx="4572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space for James Pavis remarks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647395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Membership meeting | May 21,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SEIU Local 503 at Oregon State University</a:t>
            </a:r>
            <a:endParaRPr lang="en-US" sz="920" dirty="0"/>
          </a:p>
        </p:txBody>
      </p:sp>
      <p:sp>
        <p:nvSpPr>
          <p:cNvPr id="3" name="Text 1"/>
          <p:cNvSpPr/>
          <p:nvPr/>
        </p:nvSpPr>
        <p:spPr>
          <a:xfrm>
            <a:off x="7589520" y="3474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Workday transition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83564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658368" y="713232"/>
            <a:ext cx="1087221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05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94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Save your records before Workday</a:t>
            </a:r>
            <a:endParaRPr lang="en-US" sz="2494" dirty="0"/>
          </a:p>
        </p:txBody>
      </p:sp>
      <p:sp>
        <p:nvSpPr>
          <p:cNvPr id="7" name="Text 5"/>
          <p:cNvSpPr/>
          <p:nvPr/>
        </p:nvSpPr>
        <p:spPr>
          <a:xfrm>
            <a:off x="658368" y="18470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your paycheck and time off banks before the transition creates problems.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670048"/>
            <a:ext cx="10012680" cy="896112"/>
          </a:xfrm>
          <a:prstGeom prst="roundRect">
            <a:avLst>
              <a:gd name="adj" fmla="val 8163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85292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screenshots of your paycheck, time records, and vacation, sick, comp, and personal leave banks before the Workday transition.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87552" y="3858768"/>
            <a:ext cx="4800600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Paycheck and pay stubs</a:t>
            </a:r>
            <a:endParaRPr lang="en-US" sz="19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entries and approval status</a:t>
            </a:r>
            <a:endParaRPr lang="en-US" sz="19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bank balances</a:t>
            </a:r>
            <a:endParaRPr lang="en-US" sz="19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Screenshots with dates visible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0" y="3703320"/>
            <a:ext cx="3886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386791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something looks wrong, report it to our union even if HR or OSU support is already working it.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12280" y="4498848"/>
            <a:ext cx="2971800" cy="475488"/>
          </a:xfrm>
          <a:prstGeom prst="roundRect">
            <a:avLst>
              <a:gd name="adj" fmla="val 15385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22008" y="4626864"/>
            <a:ext cx="2752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083stewards@seiu503.org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" y="647395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Membership meeting | May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xsnjohnson/github/seiu-website/resources/zoom-backgrounds/2026-bargaining/SEIU-503-Bargaining-2026-Fists-Landscape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1D95">
              <a:alpha val="58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04672" y="932688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June 30: Rally for our Future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41248" y="208483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9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Tuesday, June 30, 2026 | Noon to 1 p.m. | McNary Field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41248" y="2880360"/>
            <a:ext cx="530352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3000" y="3172968"/>
            <a:ext cx="4480560" cy="1431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 and lawn games</a:t>
            </a:r>
            <a:endParaRPr lang="en-US" sz="185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Wear purple</a:t>
            </a:r>
            <a:endParaRPr lang="en-US" sz="185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one coworker</a:t>
            </a:r>
            <a:endParaRPr lang="en-US" sz="185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management we care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7461504" y="2395728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/Users/jaxsnjohnson/github/seiu-website/images/rally-signup-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670048"/>
            <a:ext cx="2542032" cy="2542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62672" y="5358384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local083.org/rally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SEIU Local 503 at Oregon State University</a:t>
            </a:r>
            <a:endParaRPr lang="en-US" sz="920" dirty="0"/>
          </a:p>
        </p:txBody>
      </p:sp>
      <p:sp>
        <p:nvSpPr>
          <p:cNvPr id="3" name="Text 1"/>
          <p:cNvSpPr/>
          <p:nvPr/>
        </p:nvSpPr>
        <p:spPr>
          <a:xfrm>
            <a:off x="7589520" y="3474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083564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658368" y="713232"/>
            <a:ext cx="1087221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05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94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we show management we care</a:t>
            </a:r>
            <a:endParaRPr lang="en-US" sz="2494" dirty="0"/>
          </a:p>
        </p:txBody>
      </p:sp>
      <p:sp>
        <p:nvSpPr>
          <p:cNvPr id="7" name="Text 5"/>
          <p:cNvSpPr/>
          <p:nvPr/>
        </p:nvSpPr>
        <p:spPr>
          <a:xfrm>
            <a:off x="658368" y="1847088"/>
            <a:ext cx="841248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meeting ends with action. Pick the next step you can take today.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41832" y="2468880"/>
            <a:ext cx="310896" cy="118872"/>
          </a:xfrm>
          <a:prstGeom prst="rect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44752" y="242316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up and stay visible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41832" y="3035808"/>
            <a:ext cx="310896" cy="118872"/>
          </a:xfrm>
          <a:prstGeom prst="rect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44752" y="299008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coworkers into the conversation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41832" y="3602736"/>
            <a:ext cx="310896" cy="118872"/>
          </a:xfrm>
          <a:prstGeom prst="rect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44752" y="355701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Become a full member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41832" y="4169664"/>
            <a:ext cx="310896" cy="118872"/>
          </a:xfrm>
          <a:prstGeom prst="rect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44752" y="412394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Workday records before transition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41832" y="4736592"/>
            <a:ext cx="310896" cy="118872"/>
          </a:xfrm>
          <a:prstGeom prst="rect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44752" y="469087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up for the Rally for our Future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903720" y="2423160"/>
            <a:ext cx="3840480" cy="1645920"/>
          </a:xfrm>
          <a:prstGeom prst="roundRect">
            <a:avLst>
              <a:gd name="adj" fmla="val 4444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27249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4C1D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Contact paths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7223760" y="3182112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083execteam@seiu503.org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083stewards@seiu503.org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" y="5349240"/>
            <a:ext cx="9921240" cy="566928"/>
          </a:xfrm>
          <a:prstGeom prst="roundRect">
            <a:avLst>
              <a:gd name="adj" fmla="val 12903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554126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solidarity, SEIU Local 503 Sublocal 083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368" y="647395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Membership meeting | May 21,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SEIU Local 503 at Oregon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Membership Meeting May 21 2026</dc:title>
  <dc:subject>Membership meeting deck for May 21, 2026</dc:subject>
  <dc:creator>SEIU Local 503 Sublocal 083</dc:creator>
  <cp:lastModifiedBy>SEIU Local 503 Sublocal 083</cp:lastModifiedBy>
  <cp:revision>1</cp:revision>
  <dcterms:created xsi:type="dcterms:W3CDTF">2026-05-20T20:23:35Z</dcterms:created>
  <dcterms:modified xsi:type="dcterms:W3CDTF">2026-05-20T20:23:35Z</dcterms:modified>
</cp:coreProperties>
</file>