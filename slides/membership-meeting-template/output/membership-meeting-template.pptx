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IU083">
    <p:bg>
      <p:bgPr>
        <a:solidFill>
          <a:srgbClr val="F9FA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841248" y="987552"/>
            <a:ext cx="73152" cy="4480560"/>
          </a:xfrm>
          <a:prstGeom prst="rect">
            <a:avLst/>
          </a:prstGeom>
          <a:solidFill>
            <a:srgbClr val="4C1D95"/>
          </a:solidFill>
          <a:ln w="12700">
            <a:solidFill>
              <a:srgbClr val="4C1D95">
                <a:alpha val="0"/>
              </a:srgbClr>
            </a:solidFill>
            <a:prstDash val="solid"/>
          </a:ln>
        </p:spPr>
      </p:sp>
      <p:pic>
        <p:nvPicPr>
          <p:cNvPr id="3" name="Image 0" descr="/Users/jaxsnjohnson/github/seiu-website/images/logo.png">    </p:cNvPr>
          <p:cNvPicPr>
            <a:picLocks noChangeAspect="1"/>
          </p:cNvPicPr>
          <p:nvPr/>
        </p:nvPicPr>
        <p:blipFill>
          <a:blip r:embed="rId1"/>
          <a:stretch>
            <a:fillRect/>
          </a:stretch>
        </p:blipFill>
        <p:spPr>
          <a:xfrm>
            <a:off x="9636654" y="1024128"/>
            <a:ext cx="1017229" cy="1051560"/>
          </a:xfrm>
          <a:prstGeom prst="rect">
            <a:avLst/>
          </a:prstGeom>
        </p:spPr>
      </p:pic>
      <p:sp>
        <p:nvSpPr>
          <p:cNvPr id="4" name="Text 1"/>
          <p:cNvSpPr/>
          <p:nvPr/>
        </p:nvSpPr>
        <p:spPr>
          <a:xfrm>
            <a:off x="8641080" y="2267712"/>
            <a:ext cx="2377440" cy="182880"/>
          </a:xfrm>
          <a:prstGeom prst="rect">
            <a:avLst/>
          </a:prstGeom>
          <a:noFill/>
          <a:ln/>
        </p:spPr>
        <p:txBody>
          <a:bodyPr wrap="square" lIns="0" tIns="0" rIns="0" bIns="0" rtlCol="0" anchor="ctr"/>
          <a:lstStyle/>
          <a:p>
            <a:pPr algn="r" indent="0" marL="0">
              <a:buNone/>
            </a:pPr>
            <a:r>
              <a:rPr lang="en-US" sz="1000" b="1" dirty="0">
                <a:solidFill>
                  <a:srgbClr val="4C1D95"/>
                </a:solidFill>
                <a:latin typeface="Inter" pitchFamily="34" charset="0"/>
                <a:ea typeface="Inter" pitchFamily="34" charset="-122"/>
                <a:cs typeface="Inter" pitchFamily="34" charset="-120"/>
              </a:rPr>
              <a:t>SEIU Local 083</a:t>
            </a:r>
            <a:endParaRPr lang="en-US" sz="1000" dirty="0"/>
          </a:p>
        </p:txBody>
      </p:sp>
      <p:sp>
        <p:nvSpPr>
          <p:cNvPr id="5" name="Text 2"/>
          <p:cNvSpPr/>
          <p:nvPr/>
        </p:nvSpPr>
        <p:spPr>
          <a:xfrm>
            <a:off x="1170432" y="1335024"/>
            <a:ext cx="6766560" cy="786384"/>
          </a:xfrm>
          <a:prstGeom prst="rect">
            <a:avLst/>
          </a:prstGeom>
          <a:noFill/>
          <a:ln/>
        </p:spPr>
        <p:txBody>
          <a:bodyPr wrap="square" lIns="0" tIns="0" rIns="0" bIns="0" rtlCol="0" anchor="ctr"/>
          <a:lstStyle/>
          <a:p>
            <a:pPr indent="0" marL="0">
              <a:buNone/>
            </a:pPr>
            <a:r>
              <a:rPr lang="en-US" sz="3341" b="1" dirty="0">
                <a:solidFill>
                  <a:srgbClr val="4C1D95"/>
                </a:solidFill>
                <a:latin typeface="Lora" pitchFamily="34" charset="0"/>
                <a:ea typeface="Lora" pitchFamily="34" charset="-122"/>
                <a:cs typeface="Lora" pitchFamily="34" charset="-120"/>
              </a:rPr>
              <a:t>Membership Meeting Template</a:t>
            </a:r>
            <a:endParaRPr lang="en-US" sz="3341" dirty="0"/>
          </a:p>
        </p:txBody>
      </p:sp>
      <p:sp>
        <p:nvSpPr>
          <p:cNvPr id="6" name="Text 3"/>
          <p:cNvSpPr/>
          <p:nvPr/>
        </p:nvSpPr>
        <p:spPr>
          <a:xfrm>
            <a:off x="1170432" y="2331720"/>
            <a:ext cx="6126480" cy="770890"/>
          </a:xfrm>
          <a:prstGeom prst="rect">
            <a:avLst/>
          </a:prstGeom>
          <a:noFill/>
          <a:ln/>
        </p:spPr>
        <p:txBody>
          <a:bodyPr wrap="square" lIns="0" tIns="0" rIns="0" bIns="0" rtlCol="0" anchor="ctr"/>
          <a:lstStyle/>
          <a:p>
            <a:pPr indent="0" marL="0">
              <a:buNone/>
            </a:pPr>
            <a:r>
              <a:rPr lang="en-US" sz="1700" dirty="0">
                <a:solidFill>
                  <a:srgbClr val="374151"/>
                </a:solidFill>
                <a:latin typeface="Inter" pitchFamily="34" charset="0"/>
                <a:ea typeface="Inter" pitchFamily="34" charset="-122"/>
                <a:cs typeface="Inter" pitchFamily="34" charset="-120"/>
              </a:rPr>
              <a:t>Campaign-forward slides for updates, turnout asks, and practical meeting logistics.</a:t>
            </a:r>
            <a:endParaRPr lang="en-US" sz="1700" dirty="0"/>
          </a:p>
        </p:txBody>
      </p:sp>
      <p:sp>
        <p:nvSpPr>
          <p:cNvPr id="7" name="Shape 4"/>
          <p:cNvSpPr/>
          <p:nvPr/>
        </p:nvSpPr>
        <p:spPr>
          <a:xfrm>
            <a:off x="841248" y="3310128"/>
            <a:ext cx="2084832" cy="347472"/>
          </a:xfrm>
          <a:prstGeom prst="roundRect">
            <a:avLst>
              <a:gd name="adj" fmla="val 21053"/>
            </a:avLst>
          </a:prstGeom>
          <a:solidFill>
            <a:srgbClr val="FFFFFF"/>
          </a:solidFill>
          <a:ln w="12700">
            <a:solidFill>
              <a:srgbClr val="D1D5DB"/>
            </a:solidFill>
            <a:prstDash val="solid"/>
          </a:ln>
        </p:spPr>
      </p:sp>
      <p:sp>
        <p:nvSpPr>
          <p:cNvPr id="8" name="Text 5"/>
          <p:cNvSpPr/>
          <p:nvPr/>
        </p:nvSpPr>
        <p:spPr>
          <a:xfrm>
            <a:off x="969264" y="3410712"/>
            <a:ext cx="1828800" cy="128016"/>
          </a:xfrm>
          <a:prstGeom prst="rect">
            <a:avLst/>
          </a:prstGeom>
          <a:noFill/>
          <a:ln/>
        </p:spPr>
        <p:txBody>
          <a:bodyPr wrap="square" lIns="0" tIns="0" rIns="0" bIns="0" rtlCol="0" anchor="ctr"/>
          <a:lstStyle/>
          <a:p>
            <a:pPr algn="ctr" indent="0" marL="0">
              <a:buNone/>
            </a:pPr>
            <a:r>
              <a:rPr lang="en-US" sz="1050" dirty="0">
                <a:solidFill>
                  <a:srgbClr val="374151"/>
                </a:solidFill>
                <a:latin typeface="Inter" pitchFamily="34" charset="0"/>
                <a:ea typeface="Inter" pitchFamily="34" charset="-122"/>
                <a:cs typeface="Inter" pitchFamily="34" charset="-120"/>
              </a:rPr>
              <a:t>Thursday, April 16, 2026</a:t>
            </a:r>
            <a:endParaRPr lang="en-US" sz="1050" dirty="0"/>
          </a:p>
        </p:txBody>
      </p:sp>
      <p:sp>
        <p:nvSpPr>
          <p:cNvPr id="9" name="Shape 6"/>
          <p:cNvSpPr/>
          <p:nvPr/>
        </p:nvSpPr>
        <p:spPr>
          <a:xfrm>
            <a:off x="3054096" y="3310128"/>
            <a:ext cx="1444752" cy="347472"/>
          </a:xfrm>
          <a:prstGeom prst="roundRect">
            <a:avLst>
              <a:gd name="adj" fmla="val 21053"/>
            </a:avLst>
          </a:prstGeom>
          <a:solidFill>
            <a:srgbClr val="FFFFFF"/>
          </a:solidFill>
          <a:ln w="12700">
            <a:solidFill>
              <a:srgbClr val="D1D5DB"/>
            </a:solidFill>
            <a:prstDash val="solid"/>
          </a:ln>
        </p:spPr>
      </p:sp>
      <p:sp>
        <p:nvSpPr>
          <p:cNvPr id="10" name="Text 7"/>
          <p:cNvSpPr/>
          <p:nvPr/>
        </p:nvSpPr>
        <p:spPr>
          <a:xfrm>
            <a:off x="3182112" y="3410712"/>
            <a:ext cx="1188720" cy="128016"/>
          </a:xfrm>
          <a:prstGeom prst="rect">
            <a:avLst/>
          </a:prstGeom>
          <a:noFill/>
          <a:ln/>
        </p:spPr>
        <p:txBody>
          <a:bodyPr wrap="square" lIns="0" tIns="0" rIns="0" bIns="0" rtlCol="0" anchor="ctr"/>
          <a:lstStyle/>
          <a:p>
            <a:pPr algn="ctr" indent="0" marL="0">
              <a:buNone/>
            </a:pPr>
            <a:r>
              <a:rPr lang="en-US" sz="1050" dirty="0">
                <a:solidFill>
                  <a:srgbClr val="374151"/>
                </a:solidFill>
                <a:latin typeface="Inter" pitchFamily="34" charset="0"/>
                <a:ea typeface="Inter" pitchFamily="34" charset="-122"/>
                <a:cs typeface="Inter" pitchFamily="34" charset="-120"/>
              </a:rPr>
              <a:t>Noon to 1 p.m.</a:t>
            </a:r>
            <a:endParaRPr lang="en-US" sz="1050" dirty="0"/>
          </a:p>
        </p:txBody>
      </p:sp>
      <p:sp>
        <p:nvSpPr>
          <p:cNvPr id="11" name="Shape 8"/>
          <p:cNvSpPr/>
          <p:nvPr/>
        </p:nvSpPr>
        <p:spPr>
          <a:xfrm>
            <a:off x="4626864" y="3310128"/>
            <a:ext cx="1143000" cy="347472"/>
          </a:xfrm>
          <a:prstGeom prst="roundRect">
            <a:avLst>
              <a:gd name="adj" fmla="val 21053"/>
            </a:avLst>
          </a:prstGeom>
          <a:solidFill>
            <a:srgbClr val="FFFFFF"/>
          </a:solidFill>
          <a:ln w="12700">
            <a:solidFill>
              <a:srgbClr val="D1D5DB"/>
            </a:solidFill>
            <a:prstDash val="solid"/>
          </a:ln>
        </p:spPr>
      </p:sp>
      <p:sp>
        <p:nvSpPr>
          <p:cNvPr id="12" name="Text 9"/>
          <p:cNvSpPr/>
          <p:nvPr/>
        </p:nvSpPr>
        <p:spPr>
          <a:xfrm>
            <a:off x="4754880" y="3410712"/>
            <a:ext cx="886968" cy="128016"/>
          </a:xfrm>
          <a:prstGeom prst="rect">
            <a:avLst/>
          </a:prstGeom>
          <a:noFill/>
          <a:ln/>
        </p:spPr>
        <p:txBody>
          <a:bodyPr wrap="square" lIns="0" tIns="0" rIns="0" bIns="0" rtlCol="0" anchor="ctr"/>
          <a:lstStyle/>
          <a:p>
            <a:pPr algn="ctr" indent="0" marL="0">
              <a:buNone/>
            </a:pPr>
            <a:r>
              <a:rPr lang="en-US" sz="1050" dirty="0">
                <a:solidFill>
                  <a:srgbClr val="374151"/>
                </a:solidFill>
                <a:latin typeface="Inter" pitchFamily="34" charset="0"/>
                <a:ea typeface="Inter" pitchFamily="34" charset="-122"/>
                <a:cs typeface="Inter" pitchFamily="34" charset="-120"/>
              </a:rPr>
              <a:t>MU 211</a:t>
            </a:r>
            <a:endParaRPr lang="en-US" sz="1050" dirty="0"/>
          </a:p>
        </p:txBody>
      </p:sp>
      <p:sp>
        <p:nvSpPr>
          <p:cNvPr id="13" name="Shape 10"/>
          <p:cNvSpPr/>
          <p:nvPr/>
        </p:nvSpPr>
        <p:spPr>
          <a:xfrm>
            <a:off x="5897880" y="3310128"/>
            <a:ext cx="1828800" cy="347472"/>
          </a:xfrm>
          <a:prstGeom prst="roundRect">
            <a:avLst>
              <a:gd name="adj" fmla="val 21053"/>
            </a:avLst>
          </a:prstGeom>
          <a:solidFill>
            <a:srgbClr val="FFFFFF"/>
          </a:solidFill>
          <a:ln w="12700">
            <a:solidFill>
              <a:srgbClr val="D1D5DB"/>
            </a:solidFill>
            <a:prstDash val="solid"/>
          </a:ln>
        </p:spPr>
      </p:sp>
      <p:sp>
        <p:nvSpPr>
          <p:cNvPr id="14" name="Text 11"/>
          <p:cNvSpPr/>
          <p:nvPr/>
        </p:nvSpPr>
        <p:spPr>
          <a:xfrm>
            <a:off x="6025896" y="3410712"/>
            <a:ext cx="1572768" cy="128016"/>
          </a:xfrm>
          <a:prstGeom prst="rect">
            <a:avLst/>
          </a:prstGeom>
          <a:noFill/>
          <a:ln/>
        </p:spPr>
        <p:txBody>
          <a:bodyPr wrap="square" lIns="0" tIns="0" rIns="0" bIns="0" rtlCol="0" anchor="ctr"/>
          <a:lstStyle/>
          <a:p>
            <a:pPr algn="ctr" indent="0" marL="0">
              <a:buNone/>
            </a:pPr>
            <a:r>
              <a:rPr lang="en-US" sz="1050" dirty="0">
                <a:solidFill>
                  <a:srgbClr val="374151"/>
                </a:solidFill>
                <a:latin typeface="Inter" pitchFamily="34" charset="0"/>
                <a:ea typeface="Inter" pitchFamily="34" charset="-122"/>
                <a:cs typeface="Inter" pitchFamily="34" charset="-120"/>
              </a:rPr>
              <a:t>RSVP workflow active</a:t>
            </a:r>
            <a:endParaRPr lang="en-US" sz="1050" dirty="0"/>
          </a:p>
        </p:txBody>
      </p:sp>
      <p:sp>
        <p:nvSpPr>
          <p:cNvPr id="15" name="Shape 12"/>
          <p:cNvSpPr/>
          <p:nvPr/>
        </p:nvSpPr>
        <p:spPr>
          <a:xfrm>
            <a:off x="1170432" y="4059936"/>
            <a:ext cx="7772400" cy="1078992"/>
          </a:xfrm>
          <a:prstGeom prst="roundRect">
            <a:avLst>
              <a:gd name="adj" fmla="val 8475"/>
            </a:avLst>
          </a:prstGeom>
          <a:solidFill>
            <a:srgbClr val="FFFFFF"/>
          </a:solidFill>
          <a:ln w="12700">
            <a:solidFill>
              <a:srgbClr val="E5E7EB"/>
            </a:solidFill>
            <a:prstDash val="solid"/>
          </a:ln>
        </p:spPr>
      </p:sp>
      <p:sp>
        <p:nvSpPr>
          <p:cNvPr id="16" name="Text 13"/>
          <p:cNvSpPr/>
          <p:nvPr/>
        </p:nvSpPr>
        <p:spPr>
          <a:xfrm>
            <a:off x="1408176" y="4315968"/>
            <a:ext cx="192024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Template structure</a:t>
            </a:r>
            <a:endParaRPr lang="en-US" sz="950" dirty="0"/>
          </a:p>
        </p:txBody>
      </p:sp>
      <p:sp>
        <p:nvSpPr>
          <p:cNvPr id="17" name="Text 14"/>
          <p:cNvSpPr/>
          <p:nvPr/>
        </p:nvSpPr>
        <p:spPr>
          <a:xfrm>
            <a:off x="1408176" y="4572000"/>
            <a:ext cx="7132320" cy="292608"/>
          </a:xfrm>
          <a:prstGeom prst="rect">
            <a:avLst/>
          </a:prstGeom>
          <a:noFill/>
          <a:ln/>
        </p:spPr>
        <p:txBody>
          <a:bodyPr wrap="square" lIns="0" tIns="0" rIns="0" bIns="0" rtlCol="0" anchor="ctr"/>
          <a:lstStyle/>
          <a:p>
            <a:pPr indent="0" marL="0">
              <a:buNone/>
            </a:pPr>
            <a:r>
              <a:rPr lang="en-US" sz="1600" dirty="0">
                <a:solidFill>
                  <a:srgbClr val="1F2937"/>
                </a:solidFill>
                <a:latin typeface="Inter" pitchFamily="34" charset="0"/>
                <a:ea typeface="Inter" pitchFamily="34" charset="-122"/>
                <a:cs typeface="Inter" pitchFamily="34" charset="-120"/>
              </a:rPr>
              <a:t>Built for membership updates, facilitation, turnout asks, logistics, and clean closing slides.</a:t>
            </a:r>
            <a:endParaRPr lang="en-US" sz="1600" dirty="0"/>
          </a:p>
        </p:txBody>
      </p:sp>
      <p:sp>
        <p:nvSpPr>
          <p:cNvPr id="18" name="Text 15"/>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19" name="Text 16"/>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Opening</a:t>
            </a:r>
            <a:endParaRPr lang="en-US" sz="900" dirty="0"/>
          </a:p>
        </p:txBody>
      </p:sp>
      <p:sp>
        <p:nvSpPr>
          <p:cNvPr id="20" name="Text 17"/>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01</a:t>
            </a:r>
            <a:endParaRPr lang="en-US" sz="900" dirty="0"/>
          </a:p>
        </p:txBody>
      </p:sp>
      <p:sp>
        <p:nvSpPr>
          <p:cNvPr id="21" name="Shape 18"/>
          <p:cNvSpPr/>
          <p:nvPr/>
        </p:nvSpPr>
        <p:spPr>
          <a:xfrm>
            <a:off x="841248" y="822960"/>
            <a:ext cx="10506456" cy="0"/>
          </a:xfrm>
          <a:prstGeom prst="line">
            <a:avLst/>
          </a:prstGeom>
          <a:noFill/>
          <a:ln w="12700">
            <a:solidFill>
              <a:srgbClr val="E5E7EB"/>
            </a:solidFill>
            <a:prstDash val="solid"/>
          </a:ln>
        </p:spPr>
      </p:sp>
      <p:sp>
        <p:nvSpPr>
          <p:cNvPr id="22" name="Text 19"/>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Agenda</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02</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sp>
        <p:nvSpPr>
          <p:cNvPr id="6" name="Text 4"/>
          <p:cNvSpPr/>
          <p:nvPr/>
        </p:nvSpPr>
        <p:spPr>
          <a:xfrm>
            <a:off x="841248" y="1207008"/>
            <a:ext cx="7132320" cy="475488"/>
          </a:xfrm>
          <a:prstGeom prst="rect">
            <a:avLst/>
          </a:prstGeom>
          <a:noFill/>
          <a:ln/>
        </p:spPr>
        <p:txBody>
          <a:bodyPr wrap="square" lIns="0" tIns="0" rIns="0" bIns="0" rtlCol="0" anchor="ctr"/>
          <a:lstStyle/>
          <a:p>
            <a:pPr indent="0" marL="0">
              <a:buNone/>
            </a:pPr>
            <a:r>
              <a:rPr lang="en-US" sz="1800" b="1" dirty="0">
                <a:solidFill>
                  <a:srgbClr val="4C1D95"/>
                </a:solidFill>
                <a:latin typeface="Lora" pitchFamily="34" charset="0"/>
                <a:ea typeface="Lora" pitchFamily="34" charset="-122"/>
                <a:cs typeface="Lora" pitchFamily="34" charset="-120"/>
              </a:rPr>
              <a:t>Agenda slide</a:t>
            </a:r>
            <a:endParaRPr lang="en-US" sz="1800" dirty="0"/>
          </a:p>
        </p:txBody>
      </p:sp>
      <p:sp>
        <p:nvSpPr>
          <p:cNvPr id="7" name="Text 5"/>
          <p:cNvSpPr/>
          <p:nvPr/>
        </p:nvSpPr>
        <p:spPr>
          <a:xfrm>
            <a:off x="841248" y="1755648"/>
            <a:ext cx="7498080" cy="471488"/>
          </a:xfrm>
          <a:prstGeom prst="rect">
            <a:avLst/>
          </a:prstGeom>
          <a:noFill/>
          <a:ln/>
        </p:spPr>
        <p:txBody>
          <a:bodyPr wrap="square" lIns="0" tIns="0" rIns="0" bIns="0" rtlCol="0" anchor="ctr"/>
          <a:lstStyle/>
          <a:p>
            <a:pPr indent="0" marL="0">
              <a:buNone/>
            </a:pPr>
            <a:r>
              <a:rPr lang="en-US" sz="1350" dirty="0">
                <a:solidFill>
                  <a:srgbClr val="374151"/>
                </a:solidFill>
                <a:latin typeface="Inter" pitchFamily="34" charset="0"/>
                <a:ea typeface="Inter" pitchFamily="34" charset="-122"/>
                <a:cs typeface="Inter" pitchFamily="34" charset="-120"/>
              </a:rPr>
              <a:t>Use a simple, readable stack. The room should understand the sequence in seconds.</a:t>
            </a:r>
            <a:endParaRPr lang="en-US" sz="1350" dirty="0"/>
          </a:p>
        </p:txBody>
      </p:sp>
      <p:sp>
        <p:nvSpPr>
          <p:cNvPr id="8" name="Shape 6"/>
          <p:cNvSpPr/>
          <p:nvPr/>
        </p:nvSpPr>
        <p:spPr>
          <a:xfrm>
            <a:off x="841248" y="2523744"/>
            <a:ext cx="9144000" cy="658368"/>
          </a:xfrm>
          <a:prstGeom prst="roundRect">
            <a:avLst>
              <a:gd name="adj" fmla="val 13889"/>
            </a:avLst>
          </a:prstGeom>
          <a:solidFill>
            <a:srgbClr val="FFFFFF"/>
          </a:solidFill>
          <a:ln w="12700">
            <a:solidFill>
              <a:srgbClr val="E5E7EB"/>
            </a:solidFill>
            <a:prstDash val="solid"/>
          </a:ln>
        </p:spPr>
      </p:sp>
      <p:sp>
        <p:nvSpPr>
          <p:cNvPr id="9" name="Shape 7"/>
          <p:cNvSpPr/>
          <p:nvPr/>
        </p:nvSpPr>
        <p:spPr>
          <a:xfrm>
            <a:off x="1042416" y="2688336"/>
            <a:ext cx="347472" cy="329184"/>
          </a:xfrm>
          <a:prstGeom prst="roundRect">
            <a:avLst>
              <a:gd name="adj" fmla="val 19444"/>
            </a:avLst>
          </a:prstGeom>
          <a:solidFill>
            <a:srgbClr val="4C1D95"/>
          </a:solidFill>
          <a:ln w="12700">
            <a:solidFill>
              <a:srgbClr val="EDE9FE">
                <a:alpha val="0"/>
              </a:srgbClr>
            </a:solidFill>
            <a:prstDash val="solid"/>
          </a:ln>
        </p:spPr>
      </p:sp>
      <p:sp>
        <p:nvSpPr>
          <p:cNvPr id="10" name="Text 8"/>
          <p:cNvSpPr/>
          <p:nvPr/>
        </p:nvSpPr>
        <p:spPr>
          <a:xfrm>
            <a:off x="1042416" y="2761488"/>
            <a:ext cx="347472" cy="109728"/>
          </a:xfrm>
          <a:prstGeom prst="rect">
            <a:avLst/>
          </a:prstGeom>
          <a:noFill/>
          <a:ln/>
        </p:spPr>
        <p:txBody>
          <a:bodyPr wrap="square" lIns="0" tIns="0" rIns="0" bIns="0" rtlCol="0" anchor="ctr"/>
          <a:lstStyle/>
          <a:p>
            <a:pPr algn="ctr" indent="0" marL="0">
              <a:buNone/>
            </a:pPr>
            <a:r>
              <a:rPr lang="en-US" sz="950" b="1" dirty="0">
                <a:solidFill>
                  <a:srgbClr val="FFFFFF"/>
                </a:solidFill>
                <a:latin typeface="Inter" pitchFamily="34" charset="0"/>
                <a:ea typeface="Inter" pitchFamily="34" charset="-122"/>
                <a:cs typeface="Inter" pitchFamily="34" charset="-120"/>
              </a:rPr>
              <a:t>1</a:t>
            </a:r>
            <a:endParaRPr lang="en-US" sz="950" dirty="0"/>
          </a:p>
        </p:txBody>
      </p:sp>
      <p:sp>
        <p:nvSpPr>
          <p:cNvPr id="11" name="Text 9"/>
          <p:cNvSpPr/>
          <p:nvPr/>
        </p:nvSpPr>
        <p:spPr>
          <a:xfrm>
            <a:off x="1627632" y="2706624"/>
            <a:ext cx="7772400" cy="201168"/>
          </a:xfrm>
          <a:prstGeom prst="rect">
            <a:avLst/>
          </a:prstGeom>
          <a:noFill/>
          <a:ln/>
        </p:spPr>
        <p:txBody>
          <a:bodyPr wrap="square" lIns="0" tIns="0" rIns="0" bIns="0" rtlCol="0" anchor="ctr"/>
          <a:lstStyle/>
          <a:p>
            <a:pPr indent="0" marL="0">
              <a:buNone/>
            </a:pPr>
            <a:r>
              <a:rPr lang="en-US" sz="1700" b="1" dirty="0">
                <a:solidFill>
                  <a:srgbClr val="1F2937"/>
                </a:solidFill>
                <a:latin typeface="Inter" pitchFamily="34" charset="0"/>
                <a:ea typeface="Inter" pitchFamily="34" charset="-122"/>
                <a:cs typeface="Inter" pitchFamily="34" charset="-120"/>
              </a:rPr>
              <a:t>Welcome and what members need first</a:t>
            </a:r>
            <a:endParaRPr lang="en-US" sz="1700" dirty="0"/>
          </a:p>
        </p:txBody>
      </p:sp>
      <p:sp>
        <p:nvSpPr>
          <p:cNvPr id="12" name="Shape 10"/>
          <p:cNvSpPr/>
          <p:nvPr/>
        </p:nvSpPr>
        <p:spPr>
          <a:xfrm>
            <a:off x="841248" y="3291840"/>
            <a:ext cx="9144000" cy="658368"/>
          </a:xfrm>
          <a:prstGeom prst="roundRect">
            <a:avLst>
              <a:gd name="adj" fmla="val 13889"/>
            </a:avLst>
          </a:prstGeom>
          <a:solidFill>
            <a:srgbClr val="FFFFFF"/>
          </a:solidFill>
          <a:ln w="12700">
            <a:solidFill>
              <a:srgbClr val="E5E7EB"/>
            </a:solidFill>
            <a:prstDash val="solid"/>
          </a:ln>
        </p:spPr>
      </p:sp>
      <p:sp>
        <p:nvSpPr>
          <p:cNvPr id="13" name="Shape 11"/>
          <p:cNvSpPr/>
          <p:nvPr/>
        </p:nvSpPr>
        <p:spPr>
          <a:xfrm>
            <a:off x="1042416" y="3456432"/>
            <a:ext cx="347472" cy="329184"/>
          </a:xfrm>
          <a:prstGeom prst="roundRect">
            <a:avLst>
              <a:gd name="adj" fmla="val 19444"/>
            </a:avLst>
          </a:prstGeom>
          <a:solidFill>
            <a:srgbClr val="EDE9FE"/>
          </a:solidFill>
          <a:ln w="12700">
            <a:solidFill>
              <a:srgbClr val="EDE9FE">
                <a:alpha val="0"/>
              </a:srgbClr>
            </a:solidFill>
            <a:prstDash val="solid"/>
          </a:ln>
        </p:spPr>
      </p:sp>
      <p:sp>
        <p:nvSpPr>
          <p:cNvPr id="14" name="Text 12"/>
          <p:cNvSpPr/>
          <p:nvPr/>
        </p:nvSpPr>
        <p:spPr>
          <a:xfrm>
            <a:off x="1042416" y="3529584"/>
            <a:ext cx="347472" cy="109728"/>
          </a:xfrm>
          <a:prstGeom prst="rect">
            <a:avLst/>
          </a:prstGeom>
          <a:noFill/>
          <a:ln/>
        </p:spPr>
        <p:txBody>
          <a:bodyPr wrap="square" lIns="0" tIns="0" rIns="0" bIns="0" rtlCol="0" anchor="ctr"/>
          <a:lstStyle/>
          <a:p>
            <a:pPr algn="ctr" indent="0" marL="0">
              <a:buNone/>
            </a:pPr>
            <a:r>
              <a:rPr lang="en-US" sz="950" b="1" dirty="0">
                <a:solidFill>
                  <a:srgbClr val="4C1D95"/>
                </a:solidFill>
                <a:latin typeface="Inter" pitchFamily="34" charset="0"/>
                <a:ea typeface="Inter" pitchFamily="34" charset="-122"/>
                <a:cs typeface="Inter" pitchFamily="34" charset="-120"/>
              </a:rPr>
              <a:t>2</a:t>
            </a:r>
            <a:endParaRPr lang="en-US" sz="950" dirty="0"/>
          </a:p>
        </p:txBody>
      </p:sp>
      <p:sp>
        <p:nvSpPr>
          <p:cNvPr id="15" name="Text 13"/>
          <p:cNvSpPr/>
          <p:nvPr/>
        </p:nvSpPr>
        <p:spPr>
          <a:xfrm>
            <a:off x="1627632" y="3474720"/>
            <a:ext cx="7772400" cy="201168"/>
          </a:xfrm>
          <a:prstGeom prst="rect">
            <a:avLst/>
          </a:prstGeom>
          <a:noFill/>
          <a:ln/>
        </p:spPr>
        <p:txBody>
          <a:bodyPr wrap="square" lIns="0" tIns="0" rIns="0" bIns="0" rtlCol="0" anchor="ctr"/>
          <a:lstStyle/>
          <a:p>
            <a:pPr indent="0" marL="0">
              <a:buNone/>
            </a:pPr>
            <a:r>
              <a:rPr lang="en-US" sz="1700" dirty="0">
                <a:solidFill>
                  <a:srgbClr val="1F2937"/>
                </a:solidFill>
                <a:latin typeface="Inter" pitchFamily="34" charset="0"/>
                <a:ea typeface="Inter" pitchFamily="34" charset="-122"/>
                <a:cs typeface="Inter" pitchFamily="34" charset="-120"/>
              </a:rPr>
              <a:t>Current union updates and key decisions ahead</a:t>
            </a:r>
            <a:endParaRPr lang="en-US" sz="1700" dirty="0"/>
          </a:p>
        </p:txBody>
      </p:sp>
      <p:sp>
        <p:nvSpPr>
          <p:cNvPr id="16" name="Shape 14"/>
          <p:cNvSpPr/>
          <p:nvPr/>
        </p:nvSpPr>
        <p:spPr>
          <a:xfrm>
            <a:off x="841248" y="4059936"/>
            <a:ext cx="9144000" cy="658368"/>
          </a:xfrm>
          <a:prstGeom prst="roundRect">
            <a:avLst>
              <a:gd name="adj" fmla="val 13889"/>
            </a:avLst>
          </a:prstGeom>
          <a:solidFill>
            <a:srgbClr val="FFFFFF"/>
          </a:solidFill>
          <a:ln w="12700">
            <a:solidFill>
              <a:srgbClr val="E5E7EB"/>
            </a:solidFill>
            <a:prstDash val="solid"/>
          </a:ln>
        </p:spPr>
      </p:sp>
      <p:sp>
        <p:nvSpPr>
          <p:cNvPr id="17" name="Shape 15"/>
          <p:cNvSpPr/>
          <p:nvPr/>
        </p:nvSpPr>
        <p:spPr>
          <a:xfrm>
            <a:off x="1042416" y="4224528"/>
            <a:ext cx="347472" cy="329184"/>
          </a:xfrm>
          <a:prstGeom prst="roundRect">
            <a:avLst>
              <a:gd name="adj" fmla="val 19444"/>
            </a:avLst>
          </a:prstGeom>
          <a:solidFill>
            <a:srgbClr val="EDE9FE"/>
          </a:solidFill>
          <a:ln w="12700">
            <a:solidFill>
              <a:srgbClr val="EDE9FE">
                <a:alpha val="0"/>
              </a:srgbClr>
            </a:solidFill>
            <a:prstDash val="solid"/>
          </a:ln>
        </p:spPr>
      </p:sp>
      <p:sp>
        <p:nvSpPr>
          <p:cNvPr id="18" name="Text 16"/>
          <p:cNvSpPr/>
          <p:nvPr/>
        </p:nvSpPr>
        <p:spPr>
          <a:xfrm>
            <a:off x="1042416" y="4297680"/>
            <a:ext cx="347472" cy="109728"/>
          </a:xfrm>
          <a:prstGeom prst="rect">
            <a:avLst/>
          </a:prstGeom>
          <a:noFill/>
          <a:ln/>
        </p:spPr>
        <p:txBody>
          <a:bodyPr wrap="square" lIns="0" tIns="0" rIns="0" bIns="0" rtlCol="0" anchor="ctr"/>
          <a:lstStyle/>
          <a:p>
            <a:pPr algn="ctr" indent="0" marL="0">
              <a:buNone/>
            </a:pPr>
            <a:r>
              <a:rPr lang="en-US" sz="950" b="1" dirty="0">
                <a:solidFill>
                  <a:srgbClr val="4C1D95"/>
                </a:solidFill>
                <a:latin typeface="Inter" pitchFamily="34" charset="0"/>
                <a:ea typeface="Inter" pitchFamily="34" charset="-122"/>
                <a:cs typeface="Inter" pitchFamily="34" charset="-120"/>
              </a:rPr>
              <a:t>3</a:t>
            </a:r>
            <a:endParaRPr lang="en-US" sz="950" dirty="0"/>
          </a:p>
        </p:txBody>
      </p:sp>
      <p:sp>
        <p:nvSpPr>
          <p:cNvPr id="19" name="Text 17"/>
          <p:cNvSpPr/>
          <p:nvPr/>
        </p:nvSpPr>
        <p:spPr>
          <a:xfrm>
            <a:off x="1627632" y="4242816"/>
            <a:ext cx="7772400" cy="201168"/>
          </a:xfrm>
          <a:prstGeom prst="rect">
            <a:avLst/>
          </a:prstGeom>
          <a:noFill/>
          <a:ln/>
        </p:spPr>
        <p:txBody>
          <a:bodyPr wrap="square" lIns="0" tIns="0" rIns="0" bIns="0" rtlCol="0" anchor="ctr"/>
          <a:lstStyle/>
          <a:p>
            <a:pPr indent="0" marL="0">
              <a:buNone/>
            </a:pPr>
            <a:r>
              <a:rPr lang="en-US" sz="1700" dirty="0">
                <a:solidFill>
                  <a:srgbClr val="1F2937"/>
                </a:solidFill>
                <a:latin typeface="Inter" pitchFamily="34" charset="0"/>
                <a:ea typeface="Inter" pitchFamily="34" charset="-122"/>
                <a:cs typeface="Inter" pitchFamily="34" charset="-120"/>
              </a:rPr>
              <a:t>Discussion on workplace priorities and member questions</a:t>
            </a:r>
            <a:endParaRPr lang="en-US" sz="1700" dirty="0"/>
          </a:p>
        </p:txBody>
      </p:sp>
      <p:sp>
        <p:nvSpPr>
          <p:cNvPr id="20" name="Shape 18"/>
          <p:cNvSpPr/>
          <p:nvPr/>
        </p:nvSpPr>
        <p:spPr>
          <a:xfrm>
            <a:off x="841248" y="4828032"/>
            <a:ext cx="9144000" cy="658368"/>
          </a:xfrm>
          <a:prstGeom prst="roundRect">
            <a:avLst>
              <a:gd name="adj" fmla="val 13889"/>
            </a:avLst>
          </a:prstGeom>
          <a:solidFill>
            <a:srgbClr val="FFFFFF"/>
          </a:solidFill>
          <a:ln w="12700">
            <a:solidFill>
              <a:srgbClr val="E5E7EB"/>
            </a:solidFill>
            <a:prstDash val="solid"/>
          </a:ln>
        </p:spPr>
      </p:sp>
      <p:sp>
        <p:nvSpPr>
          <p:cNvPr id="21" name="Shape 19"/>
          <p:cNvSpPr/>
          <p:nvPr/>
        </p:nvSpPr>
        <p:spPr>
          <a:xfrm>
            <a:off x="1042416" y="4992624"/>
            <a:ext cx="347472" cy="329184"/>
          </a:xfrm>
          <a:prstGeom prst="roundRect">
            <a:avLst>
              <a:gd name="adj" fmla="val 19444"/>
            </a:avLst>
          </a:prstGeom>
          <a:solidFill>
            <a:srgbClr val="EDE9FE"/>
          </a:solidFill>
          <a:ln w="12700">
            <a:solidFill>
              <a:srgbClr val="EDE9FE">
                <a:alpha val="0"/>
              </a:srgbClr>
            </a:solidFill>
            <a:prstDash val="solid"/>
          </a:ln>
        </p:spPr>
      </p:sp>
      <p:sp>
        <p:nvSpPr>
          <p:cNvPr id="22" name="Text 20"/>
          <p:cNvSpPr/>
          <p:nvPr/>
        </p:nvSpPr>
        <p:spPr>
          <a:xfrm>
            <a:off x="1042416" y="5065776"/>
            <a:ext cx="347472" cy="109728"/>
          </a:xfrm>
          <a:prstGeom prst="rect">
            <a:avLst/>
          </a:prstGeom>
          <a:noFill/>
          <a:ln/>
        </p:spPr>
        <p:txBody>
          <a:bodyPr wrap="square" lIns="0" tIns="0" rIns="0" bIns="0" rtlCol="0" anchor="ctr"/>
          <a:lstStyle/>
          <a:p>
            <a:pPr algn="ctr" indent="0" marL="0">
              <a:buNone/>
            </a:pPr>
            <a:r>
              <a:rPr lang="en-US" sz="950" b="1" dirty="0">
                <a:solidFill>
                  <a:srgbClr val="4C1D95"/>
                </a:solidFill>
                <a:latin typeface="Inter" pitchFamily="34" charset="0"/>
                <a:ea typeface="Inter" pitchFamily="34" charset="-122"/>
                <a:cs typeface="Inter" pitchFamily="34" charset="-120"/>
              </a:rPr>
              <a:t>4</a:t>
            </a:r>
            <a:endParaRPr lang="en-US" sz="950" dirty="0"/>
          </a:p>
        </p:txBody>
      </p:sp>
      <p:sp>
        <p:nvSpPr>
          <p:cNvPr id="23" name="Text 21"/>
          <p:cNvSpPr/>
          <p:nvPr/>
        </p:nvSpPr>
        <p:spPr>
          <a:xfrm>
            <a:off x="1627632" y="5010912"/>
            <a:ext cx="7772400" cy="201168"/>
          </a:xfrm>
          <a:prstGeom prst="rect">
            <a:avLst/>
          </a:prstGeom>
          <a:noFill/>
          <a:ln/>
        </p:spPr>
        <p:txBody>
          <a:bodyPr wrap="square" lIns="0" tIns="0" rIns="0" bIns="0" rtlCol="0" anchor="ctr"/>
          <a:lstStyle/>
          <a:p>
            <a:pPr indent="0" marL="0">
              <a:buNone/>
            </a:pPr>
            <a:r>
              <a:rPr lang="en-US" sz="1700" dirty="0">
                <a:solidFill>
                  <a:srgbClr val="1F2937"/>
                </a:solidFill>
                <a:latin typeface="Inter" pitchFamily="34" charset="0"/>
                <a:ea typeface="Inter" pitchFamily="34" charset="-122"/>
                <a:cs typeface="Inter" pitchFamily="34" charset="-120"/>
              </a:rPr>
              <a:t>Upcoming actions, events, and turnout asks</a:t>
            </a:r>
            <a:endParaRPr lang="en-US" sz="1700" dirty="0"/>
          </a:p>
        </p:txBody>
      </p:sp>
      <p:sp>
        <p:nvSpPr>
          <p:cNvPr id="24" name="Shape 22"/>
          <p:cNvSpPr/>
          <p:nvPr/>
        </p:nvSpPr>
        <p:spPr>
          <a:xfrm>
            <a:off x="841248" y="5596128"/>
            <a:ext cx="9144000" cy="658368"/>
          </a:xfrm>
          <a:prstGeom prst="roundRect">
            <a:avLst>
              <a:gd name="adj" fmla="val 13889"/>
            </a:avLst>
          </a:prstGeom>
          <a:solidFill>
            <a:srgbClr val="FFFFFF"/>
          </a:solidFill>
          <a:ln w="12700">
            <a:solidFill>
              <a:srgbClr val="E5E7EB"/>
            </a:solidFill>
            <a:prstDash val="solid"/>
          </a:ln>
        </p:spPr>
      </p:sp>
      <p:sp>
        <p:nvSpPr>
          <p:cNvPr id="25" name="Shape 23"/>
          <p:cNvSpPr/>
          <p:nvPr/>
        </p:nvSpPr>
        <p:spPr>
          <a:xfrm>
            <a:off x="1042416" y="5760720"/>
            <a:ext cx="347472" cy="329184"/>
          </a:xfrm>
          <a:prstGeom prst="roundRect">
            <a:avLst>
              <a:gd name="adj" fmla="val 19444"/>
            </a:avLst>
          </a:prstGeom>
          <a:solidFill>
            <a:srgbClr val="EDE9FE"/>
          </a:solidFill>
          <a:ln w="12700">
            <a:solidFill>
              <a:srgbClr val="EDE9FE">
                <a:alpha val="0"/>
              </a:srgbClr>
            </a:solidFill>
            <a:prstDash val="solid"/>
          </a:ln>
        </p:spPr>
      </p:sp>
      <p:sp>
        <p:nvSpPr>
          <p:cNvPr id="26" name="Text 24"/>
          <p:cNvSpPr/>
          <p:nvPr/>
        </p:nvSpPr>
        <p:spPr>
          <a:xfrm>
            <a:off x="1042416" y="5833872"/>
            <a:ext cx="347472" cy="109728"/>
          </a:xfrm>
          <a:prstGeom prst="rect">
            <a:avLst/>
          </a:prstGeom>
          <a:noFill/>
          <a:ln/>
        </p:spPr>
        <p:txBody>
          <a:bodyPr wrap="square" lIns="0" tIns="0" rIns="0" bIns="0" rtlCol="0" anchor="ctr"/>
          <a:lstStyle/>
          <a:p>
            <a:pPr algn="ctr" indent="0" marL="0">
              <a:buNone/>
            </a:pPr>
            <a:r>
              <a:rPr lang="en-US" sz="950" b="1" dirty="0">
                <a:solidFill>
                  <a:srgbClr val="4C1D95"/>
                </a:solidFill>
                <a:latin typeface="Inter" pitchFamily="34" charset="0"/>
                <a:ea typeface="Inter" pitchFamily="34" charset="-122"/>
                <a:cs typeface="Inter" pitchFamily="34" charset="-120"/>
              </a:rPr>
              <a:t>5</a:t>
            </a:r>
            <a:endParaRPr lang="en-US" sz="950" dirty="0"/>
          </a:p>
        </p:txBody>
      </p:sp>
      <p:sp>
        <p:nvSpPr>
          <p:cNvPr id="27" name="Text 25"/>
          <p:cNvSpPr/>
          <p:nvPr/>
        </p:nvSpPr>
        <p:spPr>
          <a:xfrm>
            <a:off x="1627632" y="5779008"/>
            <a:ext cx="7772400" cy="201168"/>
          </a:xfrm>
          <a:prstGeom prst="rect">
            <a:avLst/>
          </a:prstGeom>
          <a:noFill/>
          <a:ln/>
        </p:spPr>
        <p:txBody>
          <a:bodyPr wrap="square" lIns="0" tIns="0" rIns="0" bIns="0" rtlCol="0" anchor="ctr"/>
          <a:lstStyle/>
          <a:p>
            <a:pPr indent="0" marL="0">
              <a:buNone/>
            </a:pPr>
            <a:r>
              <a:rPr lang="en-US" sz="1700" dirty="0">
                <a:solidFill>
                  <a:srgbClr val="1F2937"/>
                </a:solidFill>
                <a:latin typeface="Inter" pitchFamily="34" charset="0"/>
                <a:ea typeface="Inter" pitchFamily="34" charset="-122"/>
                <a:cs typeface="Inter" pitchFamily="34" charset="-120"/>
              </a:rPr>
              <a:t>RSVP, contacts, and next steps</a:t>
            </a:r>
            <a:endParaRPr lang="en-US" sz="1700" dirty="0"/>
          </a:p>
        </p:txBody>
      </p:sp>
      <p:sp>
        <p:nvSpPr>
          <p:cNvPr id="28" name="Shape 26"/>
          <p:cNvSpPr/>
          <p:nvPr/>
        </p:nvSpPr>
        <p:spPr>
          <a:xfrm>
            <a:off x="10149840" y="2523744"/>
            <a:ext cx="1188720" cy="1737360"/>
          </a:xfrm>
          <a:prstGeom prst="roundRect">
            <a:avLst>
              <a:gd name="adj" fmla="val 7692"/>
            </a:avLst>
          </a:prstGeom>
          <a:solidFill>
            <a:srgbClr val="EDE9FE"/>
          </a:solidFill>
          <a:ln w="12700">
            <a:solidFill>
              <a:srgbClr val="EDE9FE"/>
            </a:solidFill>
            <a:prstDash val="solid"/>
          </a:ln>
        </p:spPr>
      </p:sp>
      <p:sp>
        <p:nvSpPr>
          <p:cNvPr id="29" name="Text 27"/>
          <p:cNvSpPr/>
          <p:nvPr/>
        </p:nvSpPr>
        <p:spPr>
          <a:xfrm>
            <a:off x="10351008" y="2816352"/>
            <a:ext cx="786384" cy="1051560"/>
          </a:xfrm>
          <a:prstGeom prst="rect">
            <a:avLst/>
          </a:prstGeom>
          <a:noFill/>
          <a:ln/>
        </p:spPr>
        <p:txBody>
          <a:bodyPr wrap="square" lIns="0" tIns="0" rIns="0" bIns="0" rtlCol="0" anchor="ctr"/>
          <a:lstStyle/>
          <a:p>
            <a:pPr algn="ctr" indent="0" marL="0">
              <a:buNone/>
            </a:pPr>
            <a:r>
              <a:rPr lang="en-US" sz="1600" dirty="0">
                <a:solidFill>
                  <a:srgbClr val="4C1D95"/>
                </a:solidFill>
                <a:latin typeface="Lora" pitchFamily="34" charset="0"/>
                <a:ea typeface="Lora" pitchFamily="34" charset="-122"/>
                <a:cs typeface="Lora" pitchFamily="34" charset="-120"/>
              </a:rPr>
              <a:t>Lead with logistics.</a:t>
            </a:r>
            <a:endParaRPr lang="en-US" sz="1600" dirty="0"/>
          </a:p>
          <a:p>
            <a:pPr algn="ctr" indent="0" marL="0">
              <a:buNone/>
            </a:pPr>
            <a:r>
              <a:rPr lang="en-US" sz="1600" dirty="0">
                <a:solidFill>
                  <a:srgbClr val="4C1D95"/>
                </a:solidFill>
                <a:latin typeface="Lora" pitchFamily="34" charset="0"/>
                <a:ea typeface="Lora" pitchFamily="34" charset="-122"/>
                <a:cs typeface="Lora" pitchFamily="34" charset="-120"/>
              </a:rPr>
              <a:t>End with action.</a:t>
            </a:r>
            <a:endParaRPr lang="en-US" sz="1600" dirty="0"/>
          </a:p>
        </p:txBody>
      </p:sp>
      <p:sp>
        <p:nvSpPr>
          <p:cNvPr id="30" name="Text 28"/>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C1D95"/>
        </a:solidFill>
      </p:bgPr>
    </p:bg>
    <p:spTree>
      <p:nvGrpSpPr>
        <p:cNvPr id="1" name=""/>
        <p:cNvGrpSpPr/>
        <p:nvPr/>
      </p:nvGrpSpPr>
      <p:grpSpPr>
        <a:xfrm>
          <a:off x="0" y="0"/>
          <a:ext cx="0" cy="0"/>
          <a:chOff x="0" y="0"/>
          <a:chExt cx="0" cy="0"/>
        </a:xfrm>
      </p:grpSpPr>
      <p:sp>
        <p:nvSpPr>
          <p:cNvPr id="2" name="Shape 0"/>
          <p:cNvSpPr/>
          <p:nvPr/>
        </p:nvSpPr>
        <p:spPr>
          <a:xfrm>
            <a:off x="841248" y="1335024"/>
            <a:ext cx="91440" cy="2560320"/>
          </a:xfrm>
          <a:prstGeom prst="rect">
            <a:avLst/>
          </a:prstGeom>
          <a:solidFill>
            <a:srgbClr val="FFFFFF"/>
          </a:solidFill>
          <a:ln w="12700">
            <a:solidFill>
              <a:srgbClr val="FFFFFF">
                <a:alpha val="0"/>
              </a:srgbClr>
            </a:solidFill>
            <a:prstDash val="solid"/>
          </a:ln>
        </p:spPr>
      </p:sp>
      <p:sp>
        <p:nvSpPr>
          <p:cNvPr id="3" name="Text 1"/>
          <p:cNvSpPr/>
          <p:nvPr/>
        </p:nvSpPr>
        <p:spPr>
          <a:xfrm>
            <a:off x="1243584" y="1554480"/>
            <a:ext cx="6400800" cy="676656"/>
          </a:xfrm>
          <a:prstGeom prst="rect">
            <a:avLst/>
          </a:prstGeom>
          <a:noFill/>
          <a:ln/>
        </p:spPr>
        <p:txBody>
          <a:bodyPr wrap="square" lIns="0" tIns="0" rIns="0" bIns="0" rtlCol="0" anchor="ctr"/>
          <a:lstStyle/>
          <a:p>
            <a:pPr indent="0" marL="0">
              <a:buNone/>
            </a:pPr>
            <a:r>
              <a:rPr lang="en-US" sz="3200" b="1" dirty="0">
                <a:solidFill>
                  <a:srgbClr val="FFFFFF"/>
                </a:solidFill>
                <a:latin typeface="Lora" pitchFamily="34" charset="0"/>
                <a:ea typeface="Lora" pitchFamily="34" charset="-122"/>
                <a:cs typeface="Lora" pitchFamily="34" charset="-120"/>
              </a:rPr>
              <a:t>Union updates</a:t>
            </a:r>
            <a:endParaRPr lang="en-US" sz="3200" dirty="0"/>
          </a:p>
        </p:txBody>
      </p:sp>
      <p:sp>
        <p:nvSpPr>
          <p:cNvPr id="4" name="Text 2"/>
          <p:cNvSpPr/>
          <p:nvPr/>
        </p:nvSpPr>
        <p:spPr>
          <a:xfrm>
            <a:off x="1261872" y="2468880"/>
            <a:ext cx="5669280" cy="512064"/>
          </a:xfrm>
          <a:prstGeom prst="rect">
            <a:avLst/>
          </a:prstGeom>
          <a:noFill/>
          <a:ln/>
        </p:spPr>
        <p:txBody>
          <a:bodyPr wrap="square" lIns="0" tIns="0" rIns="0" bIns="0" rtlCol="0" anchor="ctr"/>
          <a:lstStyle/>
          <a:p>
            <a:pPr indent="0" marL="0">
              <a:buNone/>
            </a:pPr>
            <a:r>
              <a:rPr lang="en-US" sz="1700" dirty="0">
                <a:solidFill>
                  <a:srgbClr val="E9D5FF"/>
                </a:solidFill>
                <a:latin typeface="Inter" pitchFamily="34" charset="0"/>
                <a:ea typeface="Inter" pitchFamily="34" charset="-122"/>
                <a:cs typeface="Inter" pitchFamily="34" charset="-120"/>
              </a:rPr>
              <a:t>Use divider slides to reset the room between logistics, updates, discussion, and next actions.</a:t>
            </a:r>
            <a:endParaRPr lang="en-US" sz="1700" dirty="0"/>
          </a:p>
        </p:txBody>
      </p:sp>
      <p:sp>
        <p:nvSpPr>
          <p:cNvPr id="5" name="Text 3"/>
          <p:cNvSpPr/>
          <p:nvPr/>
        </p:nvSpPr>
        <p:spPr>
          <a:xfrm>
            <a:off x="8686800" y="1828800"/>
            <a:ext cx="1920240" cy="1188720"/>
          </a:xfrm>
          <a:prstGeom prst="rect">
            <a:avLst/>
          </a:prstGeom>
          <a:noFill/>
          <a:ln/>
        </p:spPr>
        <p:txBody>
          <a:bodyPr wrap="square" lIns="0" tIns="0" rIns="0" bIns="0" rtlCol="0" anchor="ctr"/>
          <a:lstStyle/>
          <a:p>
            <a:pPr algn="r" indent="0" marL="0">
              <a:buNone/>
            </a:pPr>
            <a:r>
              <a:rPr lang="en-US" sz="1800" b="1" dirty="0">
                <a:solidFill>
                  <a:srgbClr val="FFFFFF"/>
                </a:solidFill>
                <a:latin typeface="Inter" pitchFamily="34" charset="0"/>
                <a:ea typeface="Inter" pitchFamily="34" charset="-122"/>
                <a:cs typeface="Inter" pitchFamily="34" charset="-120"/>
              </a:rPr>
              <a:t>One message.</a:t>
            </a:r>
            <a:endParaRPr lang="en-US" sz="1800" dirty="0"/>
          </a:p>
          <a:p>
            <a:pPr algn="r" indent="0" marL="0">
              <a:buNone/>
            </a:pPr>
            <a:r>
              <a:rPr lang="en-US" sz="1800" b="1" dirty="0">
                <a:solidFill>
                  <a:srgbClr val="FFFFFF"/>
                </a:solidFill>
                <a:latin typeface="Inter" pitchFamily="34" charset="0"/>
                <a:ea typeface="Inter" pitchFamily="34" charset="-122"/>
                <a:cs typeface="Inter" pitchFamily="34" charset="-120"/>
              </a:rPr>
              <a:t>One beat.</a:t>
            </a:r>
            <a:endParaRPr lang="en-US" sz="1800" dirty="0"/>
          </a:p>
          <a:p>
            <a:pPr algn="r" indent="0" marL="0">
              <a:buNone/>
            </a:pPr>
            <a:r>
              <a:rPr lang="en-US" sz="1800" b="1" dirty="0">
                <a:solidFill>
                  <a:srgbClr val="FFFFFF"/>
                </a:solidFill>
                <a:latin typeface="Inter" pitchFamily="34" charset="0"/>
                <a:ea typeface="Inter" pitchFamily="34" charset="-122"/>
                <a:cs typeface="Inter" pitchFamily="34" charset="-120"/>
              </a:rPr>
              <a:t>Move on.</a:t>
            </a:r>
            <a:endParaRPr lang="en-US" sz="1800" dirty="0"/>
          </a:p>
        </p:txBody>
      </p:sp>
      <p:sp>
        <p:nvSpPr>
          <p:cNvPr id="6" name="Text 4"/>
          <p:cNvSpPr/>
          <p:nvPr/>
        </p:nvSpPr>
        <p:spPr>
          <a:xfrm>
            <a:off x="10835640" y="6217920"/>
            <a:ext cx="457200" cy="146304"/>
          </a:xfrm>
          <a:prstGeom prst="rect">
            <a:avLst/>
          </a:prstGeom>
          <a:noFill/>
          <a:ln/>
        </p:spPr>
        <p:txBody>
          <a:bodyPr wrap="square" lIns="0" tIns="0" rIns="0" bIns="0" rtlCol="0" anchor="ctr"/>
          <a:lstStyle/>
          <a:p>
            <a:pPr algn="r" indent="0" marL="0">
              <a:buNone/>
            </a:pPr>
            <a:r>
              <a:rPr lang="en-US" sz="900" dirty="0">
                <a:solidFill>
                  <a:srgbClr val="C4B5FD"/>
                </a:solidFill>
                <a:latin typeface="Inter" pitchFamily="34" charset="0"/>
                <a:ea typeface="Inter" pitchFamily="34" charset="-122"/>
                <a:cs typeface="Inter"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Update</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04</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sp>
        <p:nvSpPr>
          <p:cNvPr id="6" name="Text 4"/>
          <p:cNvSpPr/>
          <p:nvPr/>
        </p:nvSpPr>
        <p:spPr>
          <a:xfrm>
            <a:off x="841248" y="1207008"/>
            <a:ext cx="7132320" cy="475488"/>
          </a:xfrm>
          <a:prstGeom prst="rect">
            <a:avLst/>
          </a:prstGeom>
          <a:noFill/>
          <a:ln/>
        </p:spPr>
        <p:txBody>
          <a:bodyPr wrap="square" lIns="0" tIns="0" rIns="0" bIns="0" rtlCol="0" anchor="ctr"/>
          <a:lstStyle/>
          <a:p>
            <a:pPr indent="0" marL="0">
              <a:buNone/>
            </a:pPr>
            <a:r>
              <a:rPr lang="en-US" sz="1800" b="1" dirty="0">
                <a:solidFill>
                  <a:srgbClr val="4C1D95"/>
                </a:solidFill>
                <a:latin typeface="Lora" pitchFamily="34" charset="0"/>
                <a:ea typeface="Lora" pitchFamily="34" charset="-122"/>
                <a:cs typeface="Lora" pitchFamily="34" charset="-120"/>
              </a:rPr>
              <a:t>Key update slide</a:t>
            </a:r>
            <a:endParaRPr lang="en-US" sz="1800" dirty="0"/>
          </a:p>
        </p:txBody>
      </p:sp>
      <p:sp>
        <p:nvSpPr>
          <p:cNvPr id="7" name="Text 5"/>
          <p:cNvSpPr/>
          <p:nvPr/>
        </p:nvSpPr>
        <p:spPr>
          <a:xfrm>
            <a:off x="841248" y="1755648"/>
            <a:ext cx="7498080" cy="471488"/>
          </a:xfrm>
          <a:prstGeom prst="rect">
            <a:avLst/>
          </a:prstGeom>
          <a:noFill/>
          <a:ln/>
        </p:spPr>
        <p:txBody>
          <a:bodyPr wrap="square" lIns="0" tIns="0" rIns="0" bIns="0" rtlCol="0" anchor="ctr"/>
          <a:lstStyle/>
          <a:p>
            <a:pPr indent="0" marL="0">
              <a:buNone/>
            </a:pPr>
            <a:r>
              <a:rPr lang="en-US" sz="1350" dirty="0">
                <a:solidFill>
                  <a:srgbClr val="374151"/>
                </a:solidFill>
                <a:latin typeface="Inter" pitchFamily="34" charset="0"/>
                <a:ea typeface="Inter" pitchFamily="34" charset="-122"/>
                <a:cs typeface="Inter" pitchFamily="34" charset="-120"/>
              </a:rPr>
              <a:t>Use one lead message, one short explanation, and one compact support panel.</a:t>
            </a:r>
            <a:endParaRPr lang="en-US" sz="1350" dirty="0"/>
          </a:p>
        </p:txBody>
      </p:sp>
      <p:sp>
        <p:nvSpPr>
          <p:cNvPr id="8" name="Shape 6"/>
          <p:cNvSpPr/>
          <p:nvPr/>
        </p:nvSpPr>
        <p:spPr>
          <a:xfrm>
            <a:off x="841248" y="2578608"/>
            <a:ext cx="6675120" cy="2816352"/>
          </a:xfrm>
          <a:prstGeom prst="roundRect">
            <a:avLst>
              <a:gd name="adj" fmla="val 3247"/>
            </a:avLst>
          </a:prstGeom>
          <a:solidFill>
            <a:srgbClr val="FFFFFF"/>
          </a:solidFill>
          <a:ln w="12700">
            <a:solidFill>
              <a:srgbClr val="E5E7EB"/>
            </a:solidFill>
            <a:prstDash val="solid"/>
          </a:ln>
        </p:spPr>
      </p:sp>
      <p:sp>
        <p:nvSpPr>
          <p:cNvPr id="9" name="Text 7"/>
          <p:cNvSpPr/>
          <p:nvPr/>
        </p:nvSpPr>
        <p:spPr>
          <a:xfrm>
            <a:off x="1060704" y="2852928"/>
            <a:ext cx="146304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Lead message</a:t>
            </a:r>
            <a:endParaRPr lang="en-US" sz="950" dirty="0"/>
          </a:p>
        </p:txBody>
      </p:sp>
      <p:sp>
        <p:nvSpPr>
          <p:cNvPr id="10" name="Text 8"/>
          <p:cNvSpPr/>
          <p:nvPr/>
        </p:nvSpPr>
        <p:spPr>
          <a:xfrm>
            <a:off x="1060704" y="3072384"/>
            <a:ext cx="5394960" cy="402336"/>
          </a:xfrm>
          <a:prstGeom prst="rect">
            <a:avLst/>
          </a:prstGeom>
          <a:noFill/>
          <a:ln/>
        </p:spPr>
        <p:txBody>
          <a:bodyPr wrap="square" lIns="0" tIns="0" rIns="0" bIns="0" rtlCol="0" anchor="ctr"/>
          <a:lstStyle/>
          <a:p>
            <a:pPr indent="0" marL="0">
              <a:buNone/>
            </a:pPr>
            <a:r>
              <a:rPr lang="en-US" sz="1800" b="1" dirty="0">
                <a:solidFill>
                  <a:srgbClr val="4C1D95"/>
                </a:solidFill>
                <a:latin typeface="Lora" pitchFamily="34" charset="0"/>
                <a:ea typeface="Lora" pitchFamily="34" charset="-122"/>
                <a:cs typeface="Lora" pitchFamily="34" charset="-120"/>
              </a:rPr>
              <a:t>Key update example</a:t>
            </a:r>
            <a:endParaRPr lang="en-US" sz="1800" dirty="0"/>
          </a:p>
        </p:txBody>
      </p:sp>
      <p:sp>
        <p:nvSpPr>
          <p:cNvPr id="11" name="Text 9"/>
          <p:cNvSpPr/>
          <p:nvPr/>
        </p:nvSpPr>
        <p:spPr>
          <a:xfrm>
            <a:off x="1060704" y="3657600"/>
            <a:ext cx="5669280" cy="1442720"/>
          </a:xfrm>
          <a:prstGeom prst="rect">
            <a:avLst/>
          </a:prstGeom>
          <a:noFill/>
          <a:ln/>
        </p:spPr>
        <p:txBody>
          <a:bodyPr wrap="square" lIns="0" tIns="0" rIns="0" bIns="0" rtlCol="0" anchor="ctr"/>
          <a:lstStyle/>
          <a:p>
            <a:pPr indent="0" marL="0">
              <a:buNone/>
            </a:pPr>
            <a:r>
              <a:rPr lang="en-US" sz="1600" dirty="0">
                <a:solidFill>
                  <a:srgbClr val="1F2937"/>
                </a:solidFill>
                <a:latin typeface="Inter" pitchFamily="34" charset="0"/>
                <a:ea typeface="Inter" pitchFamily="34" charset="-122"/>
                <a:cs typeface="Inter" pitchFamily="34" charset="-120"/>
              </a:rPr>
              <a:t>Our membership meeting is where we share the latest updates, hear directly from members, and move our union forward together. The main update slide should hold one lead message, a short explanation, and one concrete member action.</a:t>
            </a:r>
            <a:endParaRPr lang="en-US" sz="1600" dirty="0"/>
          </a:p>
        </p:txBody>
      </p:sp>
      <p:sp>
        <p:nvSpPr>
          <p:cNvPr id="12" name="Shape 10"/>
          <p:cNvSpPr/>
          <p:nvPr/>
        </p:nvSpPr>
        <p:spPr>
          <a:xfrm>
            <a:off x="7790688" y="2578608"/>
            <a:ext cx="3557016" cy="1353312"/>
          </a:xfrm>
          <a:prstGeom prst="roundRect">
            <a:avLst>
              <a:gd name="adj" fmla="val 6757"/>
            </a:avLst>
          </a:prstGeom>
          <a:solidFill>
            <a:srgbClr val="EDE9FE"/>
          </a:solidFill>
          <a:ln w="12700">
            <a:solidFill>
              <a:srgbClr val="EDE9FE"/>
            </a:solidFill>
            <a:prstDash val="solid"/>
          </a:ln>
        </p:spPr>
      </p:sp>
      <p:sp>
        <p:nvSpPr>
          <p:cNvPr id="13" name="Text 11"/>
          <p:cNvSpPr/>
          <p:nvPr/>
        </p:nvSpPr>
        <p:spPr>
          <a:xfrm>
            <a:off x="8065008" y="2852928"/>
            <a:ext cx="182880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How to frame it</a:t>
            </a:r>
            <a:endParaRPr lang="en-US" sz="950" dirty="0"/>
          </a:p>
        </p:txBody>
      </p:sp>
      <p:sp>
        <p:nvSpPr>
          <p:cNvPr id="14" name="Shape 12"/>
          <p:cNvSpPr/>
          <p:nvPr/>
        </p:nvSpPr>
        <p:spPr>
          <a:xfrm>
            <a:off x="8083296" y="3163824"/>
            <a:ext cx="91440" cy="91440"/>
          </a:xfrm>
          <a:prstGeom prst="roundRect">
            <a:avLst>
              <a:gd name="adj" fmla="val 20000"/>
            </a:avLst>
          </a:prstGeom>
          <a:solidFill>
            <a:srgbClr val="6D28D9"/>
          </a:solidFill>
          <a:ln w="12700">
            <a:solidFill>
              <a:srgbClr val="6D28D9">
                <a:alpha val="0"/>
              </a:srgbClr>
            </a:solidFill>
            <a:prstDash val="solid"/>
          </a:ln>
        </p:spPr>
      </p:sp>
      <p:sp>
        <p:nvSpPr>
          <p:cNvPr id="15" name="Text 13"/>
          <p:cNvSpPr/>
          <p:nvPr/>
        </p:nvSpPr>
        <p:spPr>
          <a:xfrm>
            <a:off x="8284464" y="3099816"/>
            <a:ext cx="2578608" cy="146304"/>
          </a:xfrm>
          <a:prstGeom prst="rect">
            <a:avLst/>
          </a:prstGeom>
          <a:noFill/>
          <a:ln/>
        </p:spPr>
        <p:txBody>
          <a:bodyPr wrap="square" lIns="0" tIns="0" rIns="0" bIns="0" rtlCol="0" anchor="ctr"/>
          <a:lstStyle/>
          <a:p>
            <a:pPr indent="0" marL="0">
              <a:buNone/>
            </a:pPr>
            <a:r>
              <a:rPr lang="en-US" sz="920" dirty="0">
                <a:solidFill>
                  <a:srgbClr val="1F2937"/>
                </a:solidFill>
                <a:latin typeface="Inter" pitchFamily="34" charset="0"/>
                <a:ea typeface="Inter" pitchFamily="34" charset="-122"/>
                <a:cs typeface="Inter" pitchFamily="34" charset="-120"/>
              </a:rPr>
              <a:t>Use exact dates, locations, and next actions.</a:t>
            </a:r>
            <a:endParaRPr lang="en-US" sz="920" dirty="0"/>
          </a:p>
        </p:txBody>
      </p:sp>
      <p:sp>
        <p:nvSpPr>
          <p:cNvPr id="16" name="Shape 14"/>
          <p:cNvSpPr/>
          <p:nvPr/>
        </p:nvSpPr>
        <p:spPr>
          <a:xfrm>
            <a:off x="8083296" y="3374136"/>
            <a:ext cx="91440" cy="91440"/>
          </a:xfrm>
          <a:prstGeom prst="roundRect">
            <a:avLst>
              <a:gd name="adj" fmla="val 20000"/>
            </a:avLst>
          </a:prstGeom>
          <a:solidFill>
            <a:srgbClr val="6D28D9"/>
          </a:solidFill>
          <a:ln w="12700">
            <a:solidFill>
              <a:srgbClr val="6D28D9">
                <a:alpha val="0"/>
              </a:srgbClr>
            </a:solidFill>
            <a:prstDash val="solid"/>
          </a:ln>
        </p:spPr>
      </p:sp>
      <p:sp>
        <p:nvSpPr>
          <p:cNvPr id="17" name="Text 15"/>
          <p:cNvSpPr/>
          <p:nvPr/>
        </p:nvSpPr>
        <p:spPr>
          <a:xfrm>
            <a:off x="8284464" y="3310128"/>
            <a:ext cx="2578608" cy="146304"/>
          </a:xfrm>
          <a:prstGeom prst="rect">
            <a:avLst/>
          </a:prstGeom>
          <a:noFill/>
          <a:ln/>
        </p:spPr>
        <p:txBody>
          <a:bodyPr wrap="square" lIns="0" tIns="0" rIns="0" bIns="0" rtlCol="0" anchor="ctr"/>
          <a:lstStyle/>
          <a:p>
            <a:pPr indent="0" marL="0">
              <a:buNone/>
            </a:pPr>
            <a:r>
              <a:rPr lang="en-US" sz="920" dirty="0">
                <a:solidFill>
                  <a:srgbClr val="1F2937"/>
                </a:solidFill>
                <a:latin typeface="Inter" pitchFamily="34" charset="0"/>
                <a:ea typeface="Inter" pitchFamily="34" charset="-122"/>
                <a:cs typeface="Inter" pitchFamily="34" charset="-120"/>
              </a:rPr>
              <a:t>Keep the turnout ask visible on dense slides.</a:t>
            </a:r>
            <a:endParaRPr lang="en-US" sz="920" dirty="0"/>
          </a:p>
        </p:txBody>
      </p:sp>
      <p:sp>
        <p:nvSpPr>
          <p:cNvPr id="18" name="Shape 16"/>
          <p:cNvSpPr/>
          <p:nvPr/>
        </p:nvSpPr>
        <p:spPr>
          <a:xfrm>
            <a:off x="8083296" y="3584448"/>
            <a:ext cx="91440" cy="91440"/>
          </a:xfrm>
          <a:prstGeom prst="roundRect">
            <a:avLst>
              <a:gd name="adj" fmla="val 20000"/>
            </a:avLst>
          </a:prstGeom>
          <a:solidFill>
            <a:srgbClr val="6D28D9"/>
          </a:solidFill>
          <a:ln w="12700">
            <a:solidFill>
              <a:srgbClr val="6D28D9">
                <a:alpha val="0"/>
              </a:srgbClr>
            </a:solidFill>
            <a:prstDash val="solid"/>
          </a:ln>
        </p:spPr>
      </p:sp>
      <p:sp>
        <p:nvSpPr>
          <p:cNvPr id="19" name="Text 17"/>
          <p:cNvSpPr/>
          <p:nvPr/>
        </p:nvSpPr>
        <p:spPr>
          <a:xfrm>
            <a:off x="8284464" y="3520440"/>
            <a:ext cx="2578608" cy="146304"/>
          </a:xfrm>
          <a:prstGeom prst="rect">
            <a:avLst/>
          </a:prstGeom>
          <a:noFill/>
          <a:ln/>
        </p:spPr>
        <p:txBody>
          <a:bodyPr wrap="square" lIns="0" tIns="0" rIns="0" bIns="0" rtlCol="0" anchor="ctr"/>
          <a:lstStyle/>
          <a:p>
            <a:pPr indent="0" marL="0">
              <a:buNone/>
            </a:pPr>
            <a:r>
              <a:rPr lang="en-US" sz="920" dirty="0">
                <a:solidFill>
                  <a:srgbClr val="1F2937"/>
                </a:solidFill>
                <a:latin typeface="Inter" pitchFamily="34" charset="0"/>
                <a:ea typeface="Inter" pitchFamily="34" charset="-122"/>
                <a:cs typeface="Inter" pitchFamily="34" charset="-120"/>
              </a:rPr>
              <a:t>Write in our union voice: we, us, and our members.</a:t>
            </a:r>
            <a:endParaRPr lang="en-US" sz="920" dirty="0"/>
          </a:p>
        </p:txBody>
      </p:sp>
      <p:sp>
        <p:nvSpPr>
          <p:cNvPr id="20" name="Shape 18"/>
          <p:cNvSpPr/>
          <p:nvPr/>
        </p:nvSpPr>
        <p:spPr>
          <a:xfrm>
            <a:off x="7790688" y="4242816"/>
            <a:ext cx="3557016" cy="1152144"/>
          </a:xfrm>
          <a:prstGeom prst="roundRect">
            <a:avLst>
              <a:gd name="adj" fmla="val 7937"/>
            </a:avLst>
          </a:prstGeom>
          <a:solidFill>
            <a:srgbClr val="4C1D95"/>
          </a:solidFill>
          <a:ln w="12700">
            <a:solidFill>
              <a:srgbClr val="4C1D95"/>
            </a:solidFill>
            <a:prstDash val="solid"/>
          </a:ln>
        </p:spPr>
      </p:sp>
      <p:sp>
        <p:nvSpPr>
          <p:cNvPr id="21" name="Text 19"/>
          <p:cNvSpPr/>
          <p:nvPr/>
        </p:nvSpPr>
        <p:spPr>
          <a:xfrm>
            <a:off x="8065008" y="4480560"/>
            <a:ext cx="1371600" cy="146304"/>
          </a:xfrm>
          <a:prstGeom prst="rect">
            <a:avLst/>
          </a:prstGeom>
          <a:noFill/>
          <a:ln/>
        </p:spPr>
        <p:txBody>
          <a:bodyPr wrap="square" lIns="0" tIns="0" rIns="0" bIns="0" rtlCol="0" anchor="ctr"/>
          <a:lstStyle/>
          <a:p>
            <a:pPr indent="0" marL="0">
              <a:buNone/>
            </a:pPr>
            <a:r>
              <a:rPr lang="en-US" sz="950" b="1" dirty="0">
                <a:solidFill>
                  <a:srgbClr val="DDD6FE"/>
                </a:solidFill>
                <a:latin typeface="Inter" pitchFamily="34" charset="0"/>
                <a:ea typeface="Inter" pitchFamily="34" charset="-122"/>
                <a:cs typeface="Inter" pitchFamily="34" charset="-120"/>
              </a:rPr>
              <a:t>Member action</a:t>
            </a:r>
            <a:endParaRPr lang="en-US" sz="950" dirty="0"/>
          </a:p>
        </p:txBody>
      </p:sp>
      <p:sp>
        <p:nvSpPr>
          <p:cNvPr id="22" name="Text 20"/>
          <p:cNvSpPr/>
          <p:nvPr/>
        </p:nvSpPr>
        <p:spPr>
          <a:xfrm>
            <a:off x="8065008" y="4736592"/>
            <a:ext cx="2743200" cy="310896"/>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Keep the RSVP or next turnout ask visible.</a:t>
            </a:r>
            <a:endParaRPr lang="en-US" sz="1500" dirty="0"/>
          </a:p>
        </p:txBody>
      </p:sp>
      <p:sp>
        <p:nvSpPr>
          <p:cNvPr id="23" name="Text 21"/>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Discussion</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05</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sp>
        <p:nvSpPr>
          <p:cNvPr id="6" name="Text 4"/>
          <p:cNvSpPr/>
          <p:nvPr/>
        </p:nvSpPr>
        <p:spPr>
          <a:xfrm>
            <a:off x="841248" y="1207008"/>
            <a:ext cx="7132320" cy="475488"/>
          </a:xfrm>
          <a:prstGeom prst="rect">
            <a:avLst/>
          </a:prstGeom>
          <a:noFill/>
          <a:ln/>
        </p:spPr>
        <p:txBody>
          <a:bodyPr wrap="square" lIns="0" tIns="0" rIns="0" bIns="0" rtlCol="0" anchor="ctr"/>
          <a:lstStyle/>
          <a:p>
            <a:pPr indent="0" marL="0">
              <a:buNone/>
            </a:pPr>
            <a:r>
              <a:rPr lang="en-US" sz="1800" b="1" dirty="0">
                <a:solidFill>
                  <a:srgbClr val="4C1D95"/>
                </a:solidFill>
                <a:latin typeface="Lora" pitchFamily="34" charset="0"/>
                <a:ea typeface="Lora" pitchFamily="34" charset="-122"/>
                <a:cs typeface="Lora" pitchFamily="34" charset="-120"/>
              </a:rPr>
              <a:t>Two-column discussion slide</a:t>
            </a:r>
            <a:endParaRPr lang="en-US" sz="1800" dirty="0"/>
          </a:p>
        </p:txBody>
      </p:sp>
      <p:sp>
        <p:nvSpPr>
          <p:cNvPr id="7" name="Text 5"/>
          <p:cNvSpPr/>
          <p:nvPr/>
        </p:nvSpPr>
        <p:spPr>
          <a:xfrm>
            <a:off x="841248" y="1755648"/>
            <a:ext cx="7498080" cy="668655"/>
          </a:xfrm>
          <a:prstGeom prst="rect">
            <a:avLst/>
          </a:prstGeom>
          <a:noFill/>
          <a:ln/>
        </p:spPr>
        <p:txBody>
          <a:bodyPr wrap="square" lIns="0" tIns="0" rIns="0" bIns="0" rtlCol="0" anchor="ctr"/>
          <a:lstStyle/>
          <a:p>
            <a:pPr indent="0" marL="0">
              <a:buNone/>
            </a:pPr>
            <a:r>
              <a:rPr lang="en-US" sz="1350" dirty="0">
                <a:solidFill>
                  <a:srgbClr val="374151"/>
                </a:solidFill>
                <a:latin typeface="Inter" pitchFamily="34" charset="0"/>
                <a:ea typeface="Inter" pitchFamily="34" charset="-122"/>
                <a:cs typeface="Inter" pitchFamily="34" charset="-120"/>
              </a:rPr>
              <a:t>Use equal-weight columns when you need to hold both member feedback and the asks that follow from it.</a:t>
            </a:r>
            <a:endParaRPr lang="en-US" sz="1350" dirty="0"/>
          </a:p>
        </p:txBody>
      </p:sp>
      <p:sp>
        <p:nvSpPr>
          <p:cNvPr id="8" name="Shape 6"/>
          <p:cNvSpPr/>
          <p:nvPr/>
        </p:nvSpPr>
        <p:spPr>
          <a:xfrm>
            <a:off x="841248" y="2578608"/>
            <a:ext cx="5074920" cy="2889504"/>
          </a:xfrm>
          <a:prstGeom prst="roundRect">
            <a:avLst>
              <a:gd name="adj" fmla="val 3165"/>
            </a:avLst>
          </a:prstGeom>
          <a:solidFill>
            <a:srgbClr val="FFFFFF"/>
          </a:solidFill>
          <a:ln w="12700">
            <a:solidFill>
              <a:srgbClr val="E5E7EB"/>
            </a:solidFill>
            <a:prstDash val="solid"/>
          </a:ln>
        </p:spPr>
      </p:sp>
      <p:sp>
        <p:nvSpPr>
          <p:cNvPr id="9" name="Shape 7"/>
          <p:cNvSpPr/>
          <p:nvPr/>
        </p:nvSpPr>
        <p:spPr>
          <a:xfrm>
            <a:off x="6272784" y="2578608"/>
            <a:ext cx="5074920" cy="2889504"/>
          </a:xfrm>
          <a:prstGeom prst="roundRect">
            <a:avLst>
              <a:gd name="adj" fmla="val 3165"/>
            </a:avLst>
          </a:prstGeom>
          <a:solidFill>
            <a:srgbClr val="FFFFFF"/>
          </a:solidFill>
          <a:ln w="12700">
            <a:solidFill>
              <a:srgbClr val="E5E7EB"/>
            </a:solidFill>
            <a:prstDash val="solid"/>
          </a:ln>
        </p:spPr>
      </p:sp>
      <p:sp>
        <p:nvSpPr>
          <p:cNvPr id="10" name="Text 8"/>
          <p:cNvSpPr/>
          <p:nvPr/>
        </p:nvSpPr>
        <p:spPr>
          <a:xfrm>
            <a:off x="1060704" y="2852928"/>
            <a:ext cx="182880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What we're hearing</a:t>
            </a:r>
            <a:endParaRPr lang="en-US" sz="950" dirty="0"/>
          </a:p>
        </p:txBody>
      </p:sp>
      <p:sp>
        <p:nvSpPr>
          <p:cNvPr id="11" name="Text 9"/>
          <p:cNvSpPr/>
          <p:nvPr/>
        </p:nvSpPr>
        <p:spPr>
          <a:xfrm>
            <a:off x="6492240" y="2852928"/>
            <a:ext cx="210312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What we need from members</a:t>
            </a:r>
            <a:endParaRPr lang="en-US" sz="950" dirty="0"/>
          </a:p>
        </p:txBody>
      </p:sp>
      <p:sp>
        <p:nvSpPr>
          <p:cNvPr id="12" name="Text 10"/>
          <p:cNvSpPr/>
          <p:nvPr/>
        </p:nvSpPr>
        <p:spPr>
          <a:xfrm>
            <a:off x="1060704" y="3163824"/>
            <a:ext cx="4297680" cy="1522095"/>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What members are hearing in departments</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Questions that need follow-up after the meeting</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Issues that need clearer contract-campaign framing</a:t>
            </a:r>
            <a:endParaRPr lang="en-US" sz="1500" dirty="0"/>
          </a:p>
        </p:txBody>
      </p:sp>
      <p:sp>
        <p:nvSpPr>
          <p:cNvPr id="13" name="Text 11"/>
          <p:cNvSpPr/>
          <p:nvPr/>
        </p:nvSpPr>
        <p:spPr>
          <a:xfrm>
            <a:off x="6492240" y="3163824"/>
            <a:ext cx="4297680" cy="130302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What we need members to do next</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Who should RSVP or join on Zoom</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Which updates belong in the next follow-up email</a:t>
            </a:r>
            <a:endParaRPr lang="en-US" sz="1500" dirty="0"/>
          </a:p>
        </p:txBody>
      </p:sp>
      <p:sp>
        <p:nvSpPr>
          <p:cNvPr id="14" name="Text 12"/>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Logistics</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06</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sp>
        <p:nvSpPr>
          <p:cNvPr id="6" name="Text 4"/>
          <p:cNvSpPr/>
          <p:nvPr/>
        </p:nvSpPr>
        <p:spPr>
          <a:xfrm>
            <a:off x="841248" y="1207008"/>
            <a:ext cx="7132320" cy="475488"/>
          </a:xfrm>
          <a:prstGeom prst="rect">
            <a:avLst/>
          </a:prstGeom>
          <a:noFill/>
          <a:ln/>
        </p:spPr>
        <p:txBody>
          <a:bodyPr wrap="square" lIns="0" tIns="0" rIns="0" bIns="0" rtlCol="0" anchor="ctr"/>
          <a:lstStyle/>
          <a:p>
            <a:pPr indent="0" marL="0">
              <a:buNone/>
            </a:pPr>
            <a:r>
              <a:rPr lang="en-US" sz="1800" b="1" dirty="0">
                <a:solidFill>
                  <a:srgbClr val="4C1D95"/>
                </a:solidFill>
                <a:latin typeface="Lora" pitchFamily="34" charset="0"/>
                <a:ea typeface="Lora" pitchFamily="34" charset="-122"/>
                <a:cs typeface="Lora" pitchFamily="34" charset="-120"/>
              </a:rPr>
              <a:t>Logistics slide</a:t>
            </a:r>
            <a:endParaRPr lang="en-US" sz="1800" dirty="0"/>
          </a:p>
        </p:txBody>
      </p:sp>
      <p:sp>
        <p:nvSpPr>
          <p:cNvPr id="7" name="Text 5"/>
          <p:cNvSpPr/>
          <p:nvPr/>
        </p:nvSpPr>
        <p:spPr>
          <a:xfrm>
            <a:off x="841248" y="1755648"/>
            <a:ext cx="7498080" cy="471488"/>
          </a:xfrm>
          <a:prstGeom prst="rect">
            <a:avLst/>
          </a:prstGeom>
          <a:noFill/>
          <a:ln/>
        </p:spPr>
        <p:txBody>
          <a:bodyPr wrap="square" lIns="0" tIns="0" rIns="0" bIns="0" rtlCol="0" anchor="ctr"/>
          <a:lstStyle/>
          <a:p>
            <a:pPr indent="0" marL="0">
              <a:buNone/>
            </a:pPr>
            <a:r>
              <a:rPr lang="en-US" sz="1350" dirty="0">
                <a:solidFill>
                  <a:srgbClr val="374151"/>
                </a:solidFill>
                <a:latin typeface="Inter" pitchFamily="34" charset="0"/>
                <a:ea typeface="Inter" pitchFamily="34" charset="-122"/>
                <a:cs typeface="Inter" pitchFamily="34" charset="-120"/>
              </a:rPr>
              <a:t>Use a clean grid so date, time, location, and Zoom details are easy to scan quickly.</a:t>
            </a:r>
            <a:endParaRPr lang="en-US" sz="1350" dirty="0"/>
          </a:p>
        </p:txBody>
      </p:sp>
      <p:sp>
        <p:nvSpPr>
          <p:cNvPr id="8" name="Shape 6"/>
          <p:cNvSpPr/>
          <p:nvPr/>
        </p:nvSpPr>
        <p:spPr>
          <a:xfrm>
            <a:off x="841248" y="2651760"/>
            <a:ext cx="2450592" cy="1389888"/>
          </a:xfrm>
          <a:prstGeom prst="roundRect">
            <a:avLst>
              <a:gd name="adj" fmla="val 6579"/>
            </a:avLst>
          </a:prstGeom>
          <a:solidFill>
            <a:srgbClr val="FFFFFF"/>
          </a:solidFill>
          <a:ln w="12700">
            <a:solidFill>
              <a:srgbClr val="E5E7EB"/>
            </a:solidFill>
            <a:prstDash val="solid"/>
          </a:ln>
        </p:spPr>
      </p:sp>
      <p:sp>
        <p:nvSpPr>
          <p:cNvPr id="9" name="Text 7"/>
          <p:cNvSpPr/>
          <p:nvPr/>
        </p:nvSpPr>
        <p:spPr>
          <a:xfrm>
            <a:off x="1060704" y="2852928"/>
            <a:ext cx="1280160" cy="146304"/>
          </a:xfrm>
          <a:prstGeom prst="rect">
            <a:avLst/>
          </a:prstGeom>
          <a:noFill/>
          <a:ln/>
        </p:spPr>
        <p:txBody>
          <a:bodyPr wrap="square" lIns="0" tIns="0" rIns="0" bIns="0" rtlCol="0" anchor="ctr"/>
          <a:lstStyle/>
          <a:p>
            <a:pPr indent="0" marL="0">
              <a:buNone/>
            </a:pPr>
            <a:r>
              <a:rPr lang="en-US" sz="950" b="1" dirty="0">
                <a:solidFill>
                  <a:srgbClr val="6B7280"/>
                </a:solidFill>
                <a:latin typeface="Inter" pitchFamily="34" charset="0"/>
                <a:ea typeface="Inter" pitchFamily="34" charset="-122"/>
                <a:cs typeface="Inter" pitchFamily="34" charset="-120"/>
              </a:rPr>
              <a:t>Date</a:t>
            </a:r>
            <a:endParaRPr lang="en-US" sz="950" dirty="0"/>
          </a:p>
        </p:txBody>
      </p:sp>
      <p:sp>
        <p:nvSpPr>
          <p:cNvPr id="10" name="Text 8"/>
          <p:cNvSpPr/>
          <p:nvPr/>
        </p:nvSpPr>
        <p:spPr>
          <a:xfrm>
            <a:off x="1060704" y="3163824"/>
            <a:ext cx="1993392" cy="697865"/>
          </a:xfrm>
          <a:prstGeom prst="rect">
            <a:avLst/>
          </a:prstGeom>
          <a:noFill/>
          <a:ln/>
        </p:spPr>
        <p:txBody>
          <a:bodyPr wrap="square" lIns="0" tIns="0" rIns="0" bIns="0" rtlCol="0" anchor="ctr"/>
          <a:lstStyle/>
          <a:p>
            <a:pPr indent="0" marL="0">
              <a:buNone/>
            </a:pPr>
            <a:r>
              <a:rPr lang="en-US" sz="1450" dirty="0">
                <a:solidFill>
                  <a:srgbClr val="1F2937"/>
                </a:solidFill>
                <a:latin typeface="Inter" pitchFamily="34" charset="0"/>
                <a:ea typeface="Inter" pitchFamily="34" charset="-122"/>
                <a:cs typeface="Inter" pitchFamily="34" charset="-120"/>
              </a:rPr>
              <a:t>Thursday, April 16, 2026</a:t>
            </a:r>
            <a:endParaRPr lang="en-US" sz="1450" dirty="0"/>
          </a:p>
        </p:txBody>
      </p:sp>
      <p:sp>
        <p:nvSpPr>
          <p:cNvPr id="11" name="Shape 9"/>
          <p:cNvSpPr/>
          <p:nvPr/>
        </p:nvSpPr>
        <p:spPr>
          <a:xfrm>
            <a:off x="3529584" y="2651760"/>
            <a:ext cx="2450592" cy="1389888"/>
          </a:xfrm>
          <a:prstGeom prst="roundRect">
            <a:avLst>
              <a:gd name="adj" fmla="val 6579"/>
            </a:avLst>
          </a:prstGeom>
          <a:solidFill>
            <a:srgbClr val="FFFFFF"/>
          </a:solidFill>
          <a:ln w="12700">
            <a:solidFill>
              <a:srgbClr val="E5E7EB"/>
            </a:solidFill>
            <a:prstDash val="solid"/>
          </a:ln>
        </p:spPr>
      </p:sp>
      <p:sp>
        <p:nvSpPr>
          <p:cNvPr id="12" name="Text 10"/>
          <p:cNvSpPr/>
          <p:nvPr/>
        </p:nvSpPr>
        <p:spPr>
          <a:xfrm>
            <a:off x="3749040" y="2852928"/>
            <a:ext cx="1280160" cy="146304"/>
          </a:xfrm>
          <a:prstGeom prst="rect">
            <a:avLst/>
          </a:prstGeom>
          <a:noFill/>
          <a:ln/>
        </p:spPr>
        <p:txBody>
          <a:bodyPr wrap="square" lIns="0" tIns="0" rIns="0" bIns="0" rtlCol="0" anchor="ctr"/>
          <a:lstStyle/>
          <a:p>
            <a:pPr indent="0" marL="0">
              <a:buNone/>
            </a:pPr>
            <a:r>
              <a:rPr lang="en-US" sz="950" b="1" dirty="0">
                <a:solidFill>
                  <a:srgbClr val="6B7280"/>
                </a:solidFill>
                <a:latin typeface="Inter" pitchFamily="34" charset="0"/>
                <a:ea typeface="Inter" pitchFamily="34" charset="-122"/>
                <a:cs typeface="Inter" pitchFamily="34" charset="-120"/>
              </a:rPr>
              <a:t>Time</a:t>
            </a:r>
            <a:endParaRPr lang="en-US" sz="950" dirty="0"/>
          </a:p>
        </p:txBody>
      </p:sp>
      <p:sp>
        <p:nvSpPr>
          <p:cNvPr id="13" name="Text 11"/>
          <p:cNvSpPr/>
          <p:nvPr/>
        </p:nvSpPr>
        <p:spPr>
          <a:xfrm>
            <a:off x="3749040" y="3163824"/>
            <a:ext cx="1993392" cy="486092"/>
          </a:xfrm>
          <a:prstGeom prst="rect">
            <a:avLst/>
          </a:prstGeom>
          <a:noFill/>
          <a:ln/>
        </p:spPr>
        <p:txBody>
          <a:bodyPr wrap="square" lIns="0" tIns="0" rIns="0" bIns="0" rtlCol="0" anchor="ctr"/>
          <a:lstStyle/>
          <a:p>
            <a:pPr indent="0" marL="0">
              <a:buNone/>
            </a:pPr>
            <a:r>
              <a:rPr lang="en-US" sz="1450" dirty="0">
                <a:solidFill>
                  <a:srgbClr val="1F2937"/>
                </a:solidFill>
                <a:latin typeface="Inter" pitchFamily="34" charset="0"/>
                <a:ea typeface="Inter" pitchFamily="34" charset="-122"/>
                <a:cs typeface="Inter" pitchFamily="34" charset="-120"/>
              </a:rPr>
              <a:t>Noon to 1 p.m.</a:t>
            </a:r>
            <a:endParaRPr lang="en-US" sz="1450" dirty="0"/>
          </a:p>
        </p:txBody>
      </p:sp>
      <p:sp>
        <p:nvSpPr>
          <p:cNvPr id="14" name="Shape 12"/>
          <p:cNvSpPr/>
          <p:nvPr/>
        </p:nvSpPr>
        <p:spPr>
          <a:xfrm>
            <a:off x="6217920" y="2651760"/>
            <a:ext cx="2450592" cy="1389888"/>
          </a:xfrm>
          <a:prstGeom prst="roundRect">
            <a:avLst>
              <a:gd name="adj" fmla="val 6579"/>
            </a:avLst>
          </a:prstGeom>
          <a:solidFill>
            <a:srgbClr val="FFFFFF"/>
          </a:solidFill>
          <a:ln w="12700">
            <a:solidFill>
              <a:srgbClr val="E5E7EB"/>
            </a:solidFill>
            <a:prstDash val="solid"/>
          </a:ln>
        </p:spPr>
      </p:sp>
      <p:sp>
        <p:nvSpPr>
          <p:cNvPr id="15" name="Text 13"/>
          <p:cNvSpPr/>
          <p:nvPr/>
        </p:nvSpPr>
        <p:spPr>
          <a:xfrm>
            <a:off x="6437376" y="2852928"/>
            <a:ext cx="1280160" cy="146304"/>
          </a:xfrm>
          <a:prstGeom prst="rect">
            <a:avLst/>
          </a:prstGeom>
          <a:noFill/>
          <a:ln/>
        </p:spPr>
        <p:txBody>
          <a:bodyPr wrap="square" lIns="0" tIns="0" rIns="0" bIns="0" rtlCol="0" anchor="ctr"/>
          <a:lstStyle/>
          <a:p>
            <a:pPr indent="0" marL="0">
              <a:buNone/>
            </a:pPr>
            <a:r>
              <a:rPr lang="en-US" sz="950" b="1" dirty="0">
                <a:solidFill>
                  <a:srgbClr val="6B7280"/>
                </a:solidFill>
                <a:latin typeface="Inter" pitchFamily="34" charset="0"/>
                <a:ea typeface="Inter" pitchFamily="34" charset="-122"/>
                <a:cs typeface="Inter" pitchFamily="34" charset="-120"/>
              </a:rPr>
              <a:t>In person</a:t>
            </a:r>
            <a:endParaRPr lang="en-US" sz="950" dirty="0"/>
          </a:p>
        </p:txBody>
      </p:sp>
      <p:sp>
        <p:nvSpPr>
          <p:cNvPr id="16" name="Text 14"/>
          <p:cNvSpPr/>
          <p:nvPr/>
        </p:nvSpPr>
        <p:spPr>
          <a:xfrm>
            <a:off x="6437376" y="3163824"/>
            <a:ext cx="1993392" cy="486092"/>
          </a:xfrm>
          <a:prstGeom prst="rect">
            <a:avLst/>
          </a:prstGeom>
          <a:noFill/>
          <a:ln/>
        </p:spPr>
        <p:txBody>
          <a:bodyPr wrap="square" lIns="0" tIns="0" rIns="0" bIns="0" rtlCol="0" anchor="ctr"/>
          <a:lstStyle/>
          <a:p>
            <a:pPr indent="0" marL="0">
              <a:buNone/>
            </a:pPr>
            <a:r>
              <a:rPr lang="en-US" sz="1450" dirty="0">
                <a:solidFill>
                  <a:srgbClr val="1F2937"/>
                </a:solidFill>
                <a:latin typeface="Inter" pitchFamily="34" charset="0"/>
                <a:ea typeface="Inter" pitchFamily="34" charset="-122"/>
                <a:cs typeface="Inter" pitchFamily="34" charset="-120"/>
              </a:rPr>
              <a:t>MU 211</a:t>
            </a:r>
            <a:endParaRPr lang="en-US" sz="1450" dirty="0"/>
          </a:p>
        </p:txBody>
      </p:sp>
      <p:sp>
        <p:nvSpPr>
          <p:cNvPr id="17" name="Shape 15"/>
          <p:cNvSpPr/>
          <p:nvPr/>
        </p:nvSpPr>
        <p:spPr>
          <a:xfrm>
            <a:off x="8906256" y="2651760"/>
            <a:ext cx="2450592" cy="1389888"/>
          </a:xfrm>
          <a:prstGeom prst="roundRect">
            <a:avLst>
              <a:gd name="adj" fmla="val 6579"/>
            </a:avLst>
          </a:prstGeom>
          <a:solidFill>
            <a:srgbClr val="FFFFFF"/>
          </a:solidFill>
          <a:ln w="12700">
            <a:solidFill>
              <a:srgbClr val="E5E7EB"/>
            </a:solidFill>
            <a:prstDash val="solid"/>
          </a:ln>
        </p:spPr>
      </p:sp>
      <p:sp>
        <p:nvSpPr>
          <p:cNvPr id="18" name="Text 16"/>
          <p:cNvSpPr/>
          <p:nvPr/>
        </p:nvSpPr>
        <p:spPr>
          <a:xfrm>
            <a:off x="9125712" y="2852928"/>
            <a:ext cx="1280160" cy="146304"/>
          </a:xfrm>
          <a:prstGeom prst="rect">
            <a:avLst/>
          </a:prstGeom>
          <a:noFill/>
          <a:ln/>
        </p:spPr>
        <p:txBody>
          <a:bodyPr wrap="square" lIns="0" tIns="0" rIns="0" bIns="0" rtlCol="0" anchor="ctr"/>
          <a:lstStyle/>
          <a:p>
            <a:pPr indent="0" marL="0">
              <a:buNone/>
            </a:pPr>
            <a:r>
              <a:rPr lang="en-US" sz="950" b="1" dirty="0">
                <a:solidFill>
                  <a:srgbClr val="6B7280"/>
                </a:solidFill>
                <a:latin typeface="Inter" pitchFamily="34" charset="0"/>
                <a:ea typeface="Inter" pitchFamily="34" charset="-122"/>
                <a:cs typeface="Inter" pitchFamily="34" charset="-120"/>
              </a:rPr>
              <a:t>Online</a:t>
            </a:r>
            <a:endParaRPr lang="en-US" sz="950" dirty="0"/>
          </a:p>
        </p:txBody>
      </p:sp>
      <p:sp>
        <p:nvSpPr>
          <p:cNvPr id="19" name="Text 17"/>
          <p:cNvSpPr/>
          <p:nvPr/>
        </p:nvSpPr>
        <p:spPr>
          <a:xfrm>
            <a:off x="9125712" y="3163824"/>
            <a:ext cx="1993392" cy="697865"/>
          </a:xfrm>
          <a:prstGeom prst="rect">
            <a:avLst/>
          </a:prstGeom>
          <a:noFill/>
          <a:ln/>
        </p:spPr>
        <p:txBody>
          <a:bodyPr wrap="square" lIns="0" tIns="0" rIns="0" bIns="0" rtlCol="0" anchor="ctr"/>
          <a:lstStyle/>
          <a:p>
            <a:pPr indent="0" marL="0">
              <a:buNone/>
            </a:pPr>
            <a:r>
              <a:rPr lang="en-US" sz="1450" dirty="0">
                <a:solidFill>
                  <a:srgbClr val="1F2937"/>
                </a:solidFill>
                <a:latin typeface="Inter" pitchFamily="34" charset="0"/>
                <a:ea typeface="Inter" pitchFamily="34" charset="-122"/>
                <a:cs typeface="Inter" pitchFamily="34" charset="-120"/>
              </a:rPr>
              <a:t>Zoom details added to RSVP confirmation</a:t>
            </a:r>
            <a:endParaRPr lang="en-US" sz="1450" dirty="0"/>
          </a:p>
        </p:txBody>
      </p:sp>
      <p:sp>
        <p:nvSpPr>
          <p:cNvPr id="20" name="Shape 18"/>
          <p:cNvSpPr/>
          <p:nvPr/>
        </p:nvSpPr>
        <p:spPr>
          <a:xfrm>
            <a:off x="841248" y="4462272"/>
            <a:ext cx="10515600" cy="841248"/>
          </a:xfrm>
          <a:prstGeom prst="roundRect">
            <a:avLst>
              <a:gd name="adj" fmla="val 10870"/>
            </a:avLst>
          </a:prstGeom>
          <a:solidFill>
            <a:srgbClr val="EDE9FE"/>
          </a:solidFill>
          <a:ln w="12700">
            <a:solidFill>
              <a:srgbClr val="EDE9FE"/>
            </a:solidFill>
            <a:prstDash val="solid"/>
          </a:ln>
        </p:spPr>
      </p:sp>
      <p:sp>
        <p:nvSpPr>
          <p:cNvPr id="21" name="Text 19"/>
          <p:cNvSpPr/>
          <p:nvPr/>
        </p:nvSpPr>
        <p:spPr>
          <a:xfrm>
            <a:off x="1060704" y="4709160"/>
            <a:ext cx="137160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Presenter note</a:t>
            </a:r>
            <a:endParaRPr lang="en-US" sz="950" dirty="0"/>
          </a:p>
        </p:txBody>
      </p:sp>
      <p:sp>
        <p:nvSpPr>
          <p:cNvPr id="22" name="Text 20"/>
          <p:cNvSpPr/>
          <p:nvPr/>
        </p:nvSpPr>
        <p:spPr>
          <a:xfrm>
            <a:off x="1060704" y="4956048"/>
            <a:ext cx="9555480" cy="201168"/>
          </a:xfrm>
          <a:prstGeom prst="rect">
            <a:avLst/>
          </a:prstGeom>
          <a:noFill/>
          <a:ln/>
        </p:spPr>
        <p:txBody>
          <a:bodyPr wrap="square" lIns="0" tIns="0" rIns="0" bIns="0" rtlCol="0" anchor="ctr"/>
          <a:lstStyle/>
          <a:p>
            <a:pPr indent="0" marL="0">
              <a:buNone/>
            </a:pPr>
            <a:r>
              <a:rPr lang="en-US" sz="1350" dirty="0">
                <a:solidFill>
                  <a:srgbClr val="1F2937"/>
                </a:solidFill>
                <a:latin typeface="Inter" pitchFamily="34" charset="0"/>
                <a:ea typeface="Inter" pitchFamily="34" charset="-122"/>
                <a:cs typeface="Inter" pitchFamily="34" charset="-120"/>
              </a:rPr>
              <a:t>If Zoom details or the agenda are still pending, say that directly and tell members where the update will appear next.</a:t>
            </a:r>
            <a:endParaRPr lang="en-US" sz="1350" dirty="0"/>
          </a:p>
        </p:txBody>
      </p:sp>
      <p:sp>
        <p:nvSpPr>
          <p:cNvPr id="23" name="Text 21"/>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Next action</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07</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sp>
        <p:nvSpPr>
          <p:cNvPr id="6" name="Shape 4"/>
          <p:cNvSpPr/>
          <p:nvPr/>
        </p:nvSpPr>
        <p:spPr>
          <a:xfrm>
            <a:off x="841248" y="1188720"/>
            <a:ext cx="91440" cy="4434840"/>
          </a:xfrm>
          <a:prstGeom prst="rect">
            <a:avLst/>
          </a:prstGeom>
          <a:solidFill>
            <a:srgbClr val="4C1D95"/>
          </a:solidFill>
          <a:ln w="12700">
            <a:solidFill>
              <a:srgbClr val="4C1D95">
                <a:alpha val="0"/>
              </a:srgbClr>
            </a:solidFill>
            <a:prstDash val="solid"/>
          </a:ln>
        </p:spPr>
      </p:sp>
      <p:sp>
        <p:nvSpPr>
          <p:cNvPr id="7" name="Text 5"/>
          <p:cNvSpPr/>
          <p:nvPr/>
        </p:nvSpPr>
        <p:spPr>
          <a:xfrm>
            <a:off x="1188720" y="1371600"/>
            <a:ext cx="5669280" cy="603504"/>
          </a:xfrm>
          <a:prstGeom prst="rect">
            <a:avLst/>
          </a:prstGeom>
          <a:noFill/>
          <a:ln/>
        </p:spPr>
        <p:txBody>
          <a:bodyPr wrap="square" lIns="0" tIns="0" rIns="0" bIns="0" rtlCol="0" anchor="ctr"/>
          <a:lstStyle/>
          <a:p>
            <a:pPr indent="0" marL="0">
              <a:buNone/>
            </a:pPr>
            <a:r>
              <a:rPr lang="en-US" sz="2128" b="1" dirty="0">
                <a:solidFill>
                  <a:srgbClr val="4C1D95"/>
                </a:solidFill>
                <a:latin typeface="Lora" pitchFamily="34" charset="0"/>
                <a:ea typeface="Lora" pitchFamily="34" charset="-122"/>
                <a:cs typeface="Lora" pitchFamily="34" charset="-120"/>
              </a:rPr>
              <a:t>Make the next action obvious</a:t>
            </a:r>
            <a:endParaRPr lang="en-US" sz="2128" dirty="0"/>
          </a:p>
        </p:txBody>
      </p:sp>
      <p:sp>
        <p:nvSpPr>
          <p:cNvPr id="8" name="Text 6"/>
          <p:cNvSpPr/>
          <p:nvPr/>
        </p:nvSpPr>
        <p:spPr>
          <a:xfrm>
            <a:off x="1188720" y="2194560"/>
            <a:ext cx="5349240" cy="1238250"/>
          </a:xfrm>
          <a:prstGeom prst="rect">
            <a:avLst/>
          </a:prstGeom>
          <a:noFill/>
          <a:ln/>
        </p:spPr>
        <p:txBody>
          <a:bodyPr wrap="square" lIns="0" tIns="0" rIns="0" bIns="0" rtlCol="0" anchor="ctr"/>
          <a:lstStyle/>
          <a:p>
            <a:pPr indent="0" marL="0">
              <a:buNone/>
            </a:pPr>
            <a:r>
              <a:rPr lang="en-US" sz="1650" dirty="0">
                <a:solidFill>
                  <a:srgbClr val="1F2937"/>
                </a:solidFill>
                <a:latin typeface="Inter" pitchFamily="34" charset="0"/>
                <a:ea typeface="Inter" pitchFamily="34" charset="-122"/>
                <a:cs typeface="Inter" pitchFamily="34" charset="-120"/>
              </a:rPr>
              <a:t>Use this slide when everyone in the room should leave with one specific next step. The action needs to be clear enough to read in seconds and easy enough to repeat out loud.</a:t>
            </a:r>
            <a:endParaRPr lang="en-US" sz="1650" dirty="0"/>
          </a:p>
        </p:txBody>
      </p:sp>
      <p:sp>
        <p:nvSpPr>
          <p:cNvPr id="9" name="Shape 7"/>
          <p:cNvSpPr/>
          <p:nvPr/>
        </p:nvSpPr>
        <p:spPr>
          <a:xfrm>
            <a:off x="1188720" y="4224528"/>
            <a:ext cx="3291840" cy="658368"/>
          </a:xfrm>
          <a:prstGeom prst="roundRect">
            <a:avLst>
              <a:gd name="adj" fmla="val 15278"/>
            </a:avLst>
          </a:prstGeom>
          <a:solidFill>
            <a:srgbClr val="4C1D95"/>
          </a:solidFill>
          <a:ln w="12700">
            <a:solidFill>
              <a:srgbClr val="4C1D95"/>
            </a:solidFill>
            <a:prstDash val="solid"/>
          </a:ln>
        </p:spPr>
      </p:sp>
      <p:sp>
        <p:nvSpPr>
          <p:cNvPr id="10" name="Text 8"/>
          <p:cNvSpPr/>
          <p:nvPr/>
        </p:nvSpPr>
        <p:spPr>
          <a:xfrm>
            <a:off x="1389888" y="4443984"/>
            <a:ext cx="2889504" cy="146304"/>
          </a:xfrm>
          <a:prstGeom prst="rect">
            <a:avLst/>
          </a:prstGeom>
          <a:noFill/>
          <a:ln/>
        </p:spPr>
        <p:txBody>
          <a:bodyPr wrap="square" lIns="0" tIns="0" rIns="0" bIns="0" rtlCol="0" anchor="ctr"/>
          <a:lstStyle/>
          <a:p>
            <a:pPr algn="ctr" indent="0" marL="0">
              <a:buNone/>
            </a:pPr>
            <a:r>
              <a:rPr lang="en-US" sz="1700" b="1" dirty="0">
                <a:solidFill>
                  <a:srgbClr val="FFFFFF"/>
                </a:solidFill>
                <a:latin typeface="Inter" pitchFamily="34" charset="0"/>
                <a:ea typeface="Inter" pitchFamily="34" charset="-122"/>
                <a:cs typeface="Inter" pitchFamily="34" charset="-120"/>
              </a:rPr>
              <a:t>RSVP now</a:t>
            </a:r>
            <a:endParaRPr lang="en-US" sz="1700" dirty="0"/>
          </a:p>
        </p:txBody>
      </p:sp>
      <p:sp>
        <p:nvSpPr>
          <p:cNvPr id="11" name="Text 9"/>
          <p:cNvSpPr/>
          <p:nvPr/>
        </p:nvSpPr>
        <p:spPr>
          <a:xfrm>
            <a:off x="1225296" y="5084064"/>
            <a:ext cx="5212080" cy="128016"/>
          </a:xfrm>
          <a:prstGeom prst="rect">
            <a:avLst/>
          </a:prstGeom>
          <a:noFill/>
          <a:ln/>
        </p:spPr>
        <p:txBody>
          <a:bodyPr wrap="square" lIns="0" tIns="0" rIns="0" bIns="0" rtlCol="0" anchor="ctr"/>
          <a:lstStyle/>
          <a:p>
            <a:pPr indent="0" marL="0">
              <a:buNone/>
            </a:pPr>
            <a:r>
              <a:rPr lang="en-US" sz="1050" dirty="0">
                <a:solidFill>
                  <a:srgbClr val="6B7280"/>
                </a:solidFill>
                <a:latin typeface="Inter" pitchFamily="34" charset="0"/>
                <a:ea typeface="Inter" pitchFamily="34" charset="-122"/>
                <a:cs typeface="Inter" pitchFamily="34" charset="-120"/>
              </a:rPr>
              <a:t>forms.cloud.microsoft/.../membership-meeting-rsvp</a:t>
            </a:r>
            <a:endParaRPr lang="en-US" sz="1050" dirty="0"/>
          </a:p>
        </p:txBody>
      </p:sp>
      <p:sp>
        <p:nvSpPr>
          <p:cNvPr id="12" name="Shape 10"/>
          <p:cNvSpPr/>
          <p:nvPr/>
        </p:nvSpPr>
        <p:spPr>
          <a:xfrm>
            <a:off x="7223760" y="1481328"/>
            <a:ext cx="4133088" cy="3822192"/>
          </a:xfrm>
          <a:prstGeom prst="roundRect">
            <a:avLst>
              <a:gd name="adj" fmla="val 2392"/>
            </a:avLst>
          </a:prstGeom>
          <a:solidFill>
            <a:srgbClr val="FFFFFF"/>
          </a:solidFill>
          <a:ln w="12700">
            <a:solidFill>
              <a:srgbClr val="E5E7EB"/>
            </a:solidFill>
            <a:prstDash val="solid"/>
          </a:ln>
        </p:spPr>
      </p:sp>
      <p:sp>
        <p:nvSpPr>
          <p:cNvPr id="13" name="Text 11"/>
          <p:cNvSpPr/>
          <p:nvPr/>
        </p:nvSpPr>
        <p:spPr>
          <a:xfrm>
            <a:off x="7516368" y="1773936"/>
            <a:ext cx="164592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Why this works</a:t>
            </a:r>
            <a:endParaRPr lang="en-US" sz="950" dirty="0"/>
          </a:p>
        </p:txBody>
      </p:sp>
      <p:sp>
        <p:nvSpPr>
          <p:cNvPr id="14" name="Text 12"/>
          <p:cNvSpPr/>
          <p:nvPr/>
        </p:nvSpPr>
        <p:spPr>
          <a:xfrm>
            <a:off x="7516368" y="2139696"/>
            <a:ext cx="3200400" cy="174117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Helps us plan food orders and turnout</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Delivers the calendar invite right away</a:t>
            </a:r>
            <a:endParaRPr lang="en-US" sz="1500" dirty="0"/>
          </a:p>
          <a:p>
            <a:pPr marL="228600" indent="-228600">
              <a:spcAft>
                <a:spcPts val="600"/>
              </a:spcAft>
              <a:buSzPct val="100000"/>
              <a:buChar char="•"/>
            </a:pPr>
            <a:r>
              <a:rPr lang="en-US" sz="1500" dirty="0">
                <a:solidFill>
                  <a:srgbClr val="1F2937"/>
                </a:solidFill>
                <a:latin typeface="Inter" pitchFamily="34" charset="0"/>
                <a:ea typeface="Inter" pitchFamily="34" charset="-122"/>
                <a:cs typeface="Inter" pitchFamily="34" charset="-120"/>
              </a:rPr>
              <a:t>Makes the ask concrete and measurable</a:t>
            </a:r>
            <a:endParaRPr lang="en-US" sz="1500" dirty="0"/>
          </a:p>
        </p:txBody>
      </p:sp>
      <p:sp>
        <p:nvSpPr>
          <p:cNvPr id="15" name="Text 13"/>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841248" y="420624"/>
            <a:ext cx="5943600" cy="164592"/>
          </a:xfrm>
          <a:prstGeom prst="rect">
            <a:avLst/>
          </a:prstGeom>
          <a:noFill/>
          <a:ln/>
        </p:spPr>
        <p:txBody>
          <a:bodyPr wrap="square" lIns="0" tIns="0" rIns="0" bIns="0" rtlCol="0" anchor="ctr"/>
          <a:lstStyle/>
          <a:p>
            <a:pPr indent="0" marL="0">
              <a:buNone/>
            </a:pPr>
            <a:r>
              <a:rPr lang="en-US" sz="950" b="1" dirty="0">
                <a:solidFill>
                  <a:srgbClr val="4C1D95"/>
                </a:solidFill>
                <a:latin typeface="Inter" pitchFamily="34" charset="0"/>
                <a:ea typeface="Inter" pitchFamily="34" charset="-122"/>
                <a:cs typeface="Inter" pitchFamily="34" charset="-120"/>
              </a:rPr>
              <a:t>SEIU Local 503 at Oregon State University</a:t>
            </a:r>
            <a:endParaRPr lang="en-US" sz="950" dirty="0"/>
          </a:p>
        </p:txBody>
      </p:sp>
      <p:sp>
        <p:nvSpPr>
          <p:cNvPr id="3" name="Text 1"/>
          <p:cNvSpPr/>
          <p:nvPr/>
        </p:nvSpPr>
        <p:spPr>
          <a:xfrm>
            <a:off x="7863840" y="420624"/>
            <a:ext cx="2743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Closing</a:t>
            </a:r>
            <a:endParaRPr lang="en-US" sz="900" dirty="0"/>
          </a:p>
        </p:txBody>
      </p:sp>
      <p:sp>
        <p:nvSpPr>
          <p:cNvPr id="4" name="Text 2"/>
          <p:cNvSpPr/>
          <p:nvPr/>
        </p:nvSpPr>
        <p:spPr>
          <a:xfrm>
            <a:off x="10881360" y="420624"/>
            <a:ext cx="457200" cy="164592"/>
          </a:xfrm>
          <a:prstGeom prst="rect">
            <a:avLst/>
          </a:prstGeom>
          <a:noFill/>
          <a:ln/>
        </p:spPr>
        <p:txBody>
          <a:bodyPr wrap="square" lIns="0" tIns="0" rIns="0" bIns="0" rtlCol="0" anchor="ctr"/>
          <a:lstStyle/>
          <a:p>
            <a:pPr algn="r" indent="0" marL="0">
              <a:buNone/>
            </a:pPr>
            <a:r>
              <a:rPr lang="en-US" sz="900" dirty="0">
                <a:solidFill>
                  <a:srgbClr val="6B7280"/>
                </a:solidFill>
                <a:latin typeface="Inter" pitchFamily="34" charset="0"/>
                <a:ea typeface="Inter" pitchFamily="34" charset="-122"/>
                <a:cs typeface="Inter" pitchFamily="34" charset="-120"/>
              </a:rPr>
              <a:t>08</a:t>
            </a:r>
            <a:endParaRPr lang="en-US" sz="900" dirty="0"/>
          </a:p>
        </p:txBody>
      </p:sp>
      <p:sp>
        <p:nvSpPr>
          <p:cNvPr id="5" name="Shape 3"/>
          <p:cNvSpPr/>
          <p:nvPr/>
        </p:nvSpPr>
        <p:spPr>
          <a:xfrm>
            <a:off x="841248" y="822960"/>
            <a:ext cx="10506456" cy="0"/>
          </a:xfrm>
          <a:prstGeom prst="line">
            <a:avLst/>
          </a:prstGeom>
          <a:noFill/>
          <a:ln w="12700">
            <a:solidFill>
              <a:srgbClr val="E5E7EB"/>
            </a:solidFill>
            <a:prstDash val="solid"/>
          </a:ln>
        </p:spPr>
      </p:sp>
      <p:pic>
        <p:nvPicPr>
          <p:cNvPr id="6" name="Image 0" descr="/Users/jaxsnjohnson/github/seiu-website/images/logo.png">    </p:cNvPr>
          <p:cNvPicPr>
            <a:picLocks noChangeAspect="1"/>
          </p:cNvPicPr>
          <p:nvPr/>
        </p:nvPicPr>
        <p:blipFill>
          <a:blip r:embed="rId1"/>
          <a:stretch>
            <a:fillRect/>
          </a:stretch>
        </p:blipFill>
        <p:spPr>
          <a:xfrm>
            <a:off x="946421" y="1335024"/>
            <a:ext cx="813783" cy="841248"/>
          </a:xfrm>
          <a:prstGeom prst="rect">
            <a:avLst/>
          </a:prstGeom>
        </p:spPr>
      </p:pic>
      <p:sp>
        <p:nvSpPr>
          <p:cNvPr id="7" name="Text 4"/>
          <p:cNvSpPr/>
          <p:nvPr/>
        </p:nvSpPr>
        <p:spPr>
          <a:xfrm>
            <a:off x="2011680" y="1389888"/>
            <a:ext cx="6035040" cy="566928"/>
          </a:xfrm>
          <a:prstGeom prst="rect">
            <a:avLst/>
          </a:prstGeom>
          <a:noFill/>
          <a:ln/>
        </p:spPr>
        <p:txBody>
          <a:bodyPr wrap="square" lIns="0" tIns="0" rIns="0" bIns="0" rtlCol="0" anchor="ctr"/>
          <a:lstStyle/>
          <a:p>
            <a:pPr indent="0" marL="0">
              <a:buNone/>
            </a:pPr>
            <a:r>
              <a:rPr lang="en-US" sz="2200" b="1" dirty="0">
                <a:solidFill>
                  <a:srgbClr val="4C1D95"/>
                </a:solidFill>
                <a:latin typeface="Lora" pitchFamily="34" charset="0"/>
                <a:ea typeface="Lora" pitchFamily="34" charset="-122"/>
                <a:cs typeface="Lora" pitchFamily="34" charset="-120"/>
              </a:rPr>
              <a:t>Thank you for showing up</a:t>
            </a:r>
            <a:endParaRPr lang="en-US" sz="2200" dirty="0"/>
          </a:p>
        </p:txBody>
      </p:sp>
      <p:sp>
        <p:nvSpPr>
          <p:cNvPr id="8" name="Text 5"/>
          <p:cNvSpPr/>
          <p:nvPr/>
        </p:nvSpPr>
        <p:spPr>
          <a:xfrm>
            <a:off x="2011680" y="2212848"/>
            <a:ext cx="6035040" cy="770890"/>
          </a:xfrm>
          <a:prstGeom prst="rect">
            <a:avLst/>
          </a:prstGeom>
          <a:noFill/>
          <a:ln/>
        </p:spPr>
        <p:txBody>
          <a:bodyPr wrap="square" lIns="0" tIns="0" rIns="0" bIns="0" rtlCol="0" anchor="ctr"/>
          <a:lstStyle/>
          <a:p>
            <a:pPr indent="0" marL="0">
              <a:buNone/>
            </a:pPr>
            <a:r>
              <a:rPr lang="en-US" sz="1700" dirty="0">
                <a:solidFill>
                  <a:srgbClr val="1F2937"/>
                </a:solidFill>
                <a:latin typeface="Inter" pitchFamily="34" charset="0"/>
                <a:ea typeface="Inter" pitchFamily="34" charset="-122"/>
                <a:cs typeface="Inter" pitchFamily="34" charset="-120"/>
              </a:rPr>
              <a:t>Thank members, restate the next action, and close with one clean contact path for questions or steward support.</a:t>
            </a:r>
            <a:endParaRPr lang="en-US" sz="1700" dirty="0"/>
          </a:p>
        </p:txBody>
      </p:sp>
      <p:sp>
        <p:nvSpPr>
          <p:cNvPr id="9" name="Shape 6"/>
          <p:cNvSpPr/>
          <p:nvPr/>
        </p:nvSpPr>
        <p:spPr>
          <a:xfrm>
            <a:off x="932688" y="3968496"/>
            <a:ext cx="7132320" cy="914400"/>
          </a:xfrm>
          <a:prstGeom prst="roundRect">
            <a:avLst>
              <a:gd name="adj" fmla="val 10000"/>
            </a:avLst>
          </a:prstGeom>
          <a:solidFill>
            <a:srgbClr val="EDE9FE"/>
          </a:solidFill>
          <a:ln w="12700">
            <a:solidFill>
              <a:srgbClr val="EDE9FE"/>
            </a:solidFill>
            <a:prstDash val="solid"/>
          </a:ln>
        </p:spPr>
      </p:sp>
      <p:sp>
        <p:nvSpPr>
          <p:cNvPr id="10" name="Text 7"/>
          <p:cNvSpPr/>
          <p:nvPr/>
        </p:nvSpPr>
        <p:spPr>
          <a:xfrm>
            <a:off x="1188720" y="4251960"/>
            <a:ext cx="109728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Close with</a:t>
            </a:r>
            <a:endParaRPr lang="en-US" sz="950" dirty="0"/>
          </a:p>
        </p:txBody>
      </p:sp>
      <p:sp>
        <p:nvSpPr>
          <p:cNvPr id="11" name="Text 8"/>
          <p:cNvSpPr/>
          <p:nvPr/>
        </p:nvSpPr>
        <p:spPr>
          <a:xfrm>
            <a:off x="1188720" y="4480560"/>
            <a:ext cx="6126480" cy="164592"/>
          </a:xfrm>
          <a:prstGeom prst="rect">
            <a:avLst/>
          </a:prstGeom>
          <a:noFill/>
          <a:ln/>
        </p:spPr>
        <p:txBody>
          <a:bodyPr wrap="square" lIns="0" tIns="0" rIns="0" bIns="0" rtlCol="0" anchor="ctr"/>
          <a:lstStyle/>
          <a:p>
            <a:pPr indent="0" marL="0">
              <a:buNone/>
            </a:pPr>
            <a:r>
              <a:rPr lang="en-US" sz="1400" dirty="0">
                <a:solidFill>
                  <a:srgbClr val="1F2937"/>
                </a:solidFill>
                <a:latin typeface="Inter" pitchFamily="34" charset="0"/>
                <a:ea typeface="Inter" pitchFamily="34" charset="-122"/>
                <a:cs typeface="Inter" pitchFamily="34" charset="-120"/>
              </a:rPr>
              <a:t>one clear next action, one timeline, and one follow-up path.</a:t>
            </a:r>
            <a:endParaRPr lang="en-US" sz="1400" dirty="0"/>
          </a:p>
        </p:txBody>
      </p:sp>
      <p:sp>
        <p:nvSpPr>
          <p:cNvPr id="12" name="Shape 9"/>
          <p:cNvSpPr/>
          <p:nvPr/>
        </p:nvSpPr>
        <p:spPr>
          <a:xfrm>
            <a:off x="8540496" y="1389888"/>
            <a:ext cx="2807208" cy="3493008"/>
          </a:xfrm>
          <a:prstGeom prst="roundRect">
            <a:avLst>
              <a:gd name="adj" fmla="val 3257"/>
            </a:avLst>
          </a:prstGeom>
          <a:solidFill>
            <a:srgbClr val="FFFFFF"/>
          </a:solidFill>
          <a:ln w="12700">
            <a:solidFill>
              <a:srgbClr val="E5E7EB"/>
            </a:solidFill>
            <a:prstDash val="solid"/>
          </a:ln>
        </p:spPr>
      </p:sp>
      <p:sp>
        <p:nvSpPr>
          <p:cNvPr id="13" name="Text 10"/>
          <p:cNvSpPr/>
          <p:nvPr/>
        </p:nvSpPr>
        <p:spPr>
          <a:xfrm>
            <a:off x="8814816" y="1700784"/>
            <a:ext cx="137160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Contact path</a:t>
            </a:r>
            <a:endParaRPr lang="en-US" sz="950" dirty="0"/>
          </a:p>
        </p:txBody>
      </p:sp>
      <p:sp>
        <p:nvSpPr>
          <p:cNvPr id="14" name="Text 11"/>
          <p:cNvSpPr/>
          <p:nvPr/>
        </p:nvSpPr>
        <p:spPr>
          <a:xfrm>
            <a:off x="8814816" y="2066544"/>
            <a:ext cx="2148840" cy="749808"/>
          </a:xfrm>
          <a:prstGeom prst="rect">
            <a:avLst/>
          </a:prstGeom>
          <a:noFill/>
          <a:ln/>
        </p:spPr>
        <p:txBody>
          <a:bodyPr wrap="square" lIns="0" tIns="0" rIns="0" bIns="0" rtlCol="0" anchor="ctr"/>
          <a:lstStyle/>
          <a:p>
            <a:pPr indent="0" marL="0">
              <a:buNone/>
            </a:pPr>
            <a:r>
              <a:rPr lang="en-US" sz="1400" dirty="0">
                <a:solidFill>
                  <a:srgbClr val="1F2937"/>
                </a:solidFill>
                <a:latin typeface="Inter" pitchFamily="34" charset="0"/>
                <a:ea typeface="Inter" pitchFamily="34" charset="-122"/>
                <a:cs typeface="Inter" pitchFamily="34" charset="-120"/>
              </a:rPr>
              <a:t>083stewards@seiu503.org</a:t>
            </a:r>
            <a:endParaRPr lang="en-US" sz="1400" dirty="0"/>
          </a:p>
          <a:p>
            <a:pPr indent="0" marL="0">
              <a:buNone/>
            </a:pPr>
            <a:r>
              <a:rPr lang="en-US" sz="1400" dirty="0">
                <a:solidFill>
                  <a:srgbClr val="1F2937"/>
                </a:solidFill>
                <a:latin typeface="Inter" pitchFamily="34" charset="0"/>
                <a:ea typeface="Inter" pitchFamily="34" charset="-122"/>
                <a:cs typeface="Inter" pitchFamily="34" charset="-120"/>
              </a:rPr>
              <a:t>083execteam@seiu503.org</a:t>
            </a:r>
            <a:endParaRPr lang="en-US" sz="1400" dirty="0"/>
          </a:p>
        </p:txBody>
      </p:sp>
      <p:sp>
        <p:nvSpPr>
          <p:cNvPr id="15" name="Text 12"/>
          <p:cNvSpPr/>
          <p:nvPr/>
        </p:nvSpPr>
        <p:spPr>
          <a:xfrm>
            <a:off x="8814816" y="3145536"/>
            <a:ext cx="1463040" cy="146304"/>
          </a:xfrm>
          <a:prstGeom prst="rect">
            <a:avLst/>
          </a:prstGeom>
          <a:noFill/>
          <a:ln/>
        </p:spPr>
        <p:txBody>
          <a:bodyPr wrap="square" lIns="0" tIns="0" rIns="0" bIns="0" rtlCol="0" anchor="ctr"/>
          <a:lstStyle/>
          <a:p>
            <a:pPr indent="0" marL="0">
              <a:buNone/>
            </a:pPr>
            <a:r>
              <a:rPr lang="en-US" sz="950" b="1" dirty="0">
                <a:solidFill>
                  <a:srgbClr val="6D28D9"/>
                </a:solidFill>
                <a:latin typeface="Inter" pitchFamily="34" charset="0"/>
                <a:ea typeface="Inter" pitchFamily="34" charset="-122"/>
                <a:cs typeface="Inter" pitchFamily="34" charset="-120"/>
              </a:rPr>
              <a:t>Reusable close</a:t>
            </a:r>
            <a:endParaRPr lang="en-US" sz="950" dirty="0"/>
          </a:p>
        </p:txBody>
      </p:sp>
      <p:sp>
        <p:nvSpPr>
          <p:cNvPr id="16" name="Text 13"/>
          <p:cNvSpPr/>
          <p:nvPr/>
        </p:nvSpPr>
        <p:spPr>
          <a:xfrm>
            <a:off x="8814816" y="3493008"/>
            <a:ext cx="2084832" cy="457200"/>
          </a:xfrm>
          <a:prstGeom prst="rect">
            <a:avLst/>
          </a:prstGeom>
          <a:noFill/>
          <a:ln/>
        </p:spPr>
        <p:txBody>
          <a:bodyPr wrap="square" lIns="0" tIns="0" rIns="0" bIns="0" rtlCol="0" anchor="ctr"/>
          <a:lstStyle/>
          <a:p>
            <a:pPr indent="0" marL="0">
              <a:buNone/>
            </a:pPr>
            <a:r>
              <a:rPr lang="en-US" sz="1250" dirty="0">
                <a:solidFill>
                  <a:srgbClr val="374151"/>
                </a:solidFill>
                <a:latin typeface="Inter" pitchFamily="34" charset="0"/>
                <a:ea typeface="Inter" pitchFamily="34" charset="-122"/>
                <a:cs typeface="Inter" pitchFamily="34" charset="-120"/>
              </a:rPr>
              <a:t>Restate the next action and where follow-up information will land.</a:t>
            </a:r>
            <a:endParaRPr lang="en-US" sz="1250" dirty="0"/>
          </a:p>
        </p:txBody>
      </p:sp>
      <p:sp>
        <p:nvSpPr>
          <p:cNvPr id="17" name="Text 14"/>
          <p:cNvSpPr/>
          <p:nvPr/>
        </p:nvSpPr>
        <p:spPr>
          <a:xfrm>
            <a:off x="841248" y="6419088"/>
            <a:ext cx="3657600" cy="146304"/>
          </a:xfrm>
          <a:prstGeom prst="rect">
            <a:avLst/>
          </a:prstGeom>
          <a:noFill/>
          <a:ln/>
        </p:spPr>
        <p:txBody>
          <a:bodyPr wrap="square" lIns="0" tIns="0" rIns="0" bIns="0" rtlCol="0" anchor="ctr"/>
          <a:lstStyle/>
          <a:p>
            <a:pPr indent="0" marL="0">
              <a:buNone/>
            </a:pPr>
            <a:r>
              <a:rPr lang="en-US" sz="800" dirty="0">
                <a:solidFill>
                  <a:srgbClr val="6B7280"/>
                </a:solidFill>
                <a:latin typeface="Inter" pitchFamily="34" charset="0"/>
                <a:ea typeface="Inter" pitchFamily="34" charset="-122"/>
                <a:cs typeface="Inter" pitchFamily="34" charset="-120"/>
              </a:rPr>
              <a:t>SEIU Local 083 membership meeting slide system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or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SEIU Local 503 at 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SEIU Local 083 Membership Meeting Template</dc:title>
  <dc:subject>Membership meeting slide template</dc:subject>
  <dc:creator>OpenAI Codex</dc:creator>
  <cp:lastModifiedBy>OpenAI Codex</cp:lastModifiedBy>
  <cp:revision>1</cp:revision>
  <dcterms:created xsi:type="dcterms:W3CDTF">2026-03-22T00:27:51Z</dcterms:created>
  <dcterms:modified xsi:type="dcterms:W3CDTF">2026-03-22T00:27:51Z</dcterms:modified>
</cp:coreProperties>
</file>