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xsnjohnson/github/seiu-website/resources/zoom-backgrounds/2026-bargaining/SEIU-503-Bargaining-2026-Fists-Landscape.png">    </p:cNvPr>
          <p:cNvPicPr>
            <a:picLocks noChangeAspect="1"/>
          </p:cNvPicPr>
          <p:nvPr/>
        </p:nvPicPr>
        <p:blipFill>
          <a:blip r:embed="rId1"/>
          <a:srcRect l="25201" r="25201" t="0" b="0"/>
          <a:stretch/>
        </p:blipFill>
        <p:spPr>
          <a:xfrm>
            <a:off x="6144768" y="0"/>
            <a:ext cx="604692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44768" y="0"/>
            <a:ext cx="6046927" cy="6858000"/>
          </a:xfrm>
          <a:prstGeom prst="rect">
            <a:avLst/>
          </a:prstGeom>
          <a:solidFill>
            <a:srgbClr val="4C1D95">
              <a:alpha val="62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56539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pic>
        <p:nvPicPr>
          <p:cNvPr id="5" name="Image 1" descr="/Users/jaxsnjohnson/github/seiu-website/image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75" y="713232"/>
            <a:ext cx="689946" cy="7132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72768" y="9326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083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13232" y="1481328"/>
            <a:ext cx="5166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June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Membership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Meeting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749808" y="36576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power starts with turnout.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749808" y="4352544"/>
            <a:ext cx="144475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9536" y="447141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Thursday, June 18</a:t>
            </a:r>
            <a:endParaRPr lang="en-US" sz="1060" dirty="0"/>
          </a:p>
        </p:txBody>
      </p:sp>
      <p:sp>
        <p:nvSpPr>
          <p:cNvPr id="11" name="Shape 7"/>
          <p:cNvSpPr/>
          <p:nvPr/>
        </p:nvSpPr>
        <p:spPr>
          <a:xfrm>
            <a:off x="2331720" y="4352544"/>
            <a:ext cx="135331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41448" y="44714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Noon to 1 p.m.</a:t>
            </a:r>
            <a:endParaRPr lang="en-US" sz="1060" dirty="0"/>
          </a:p>
        </p:txBody>
      </p:sp>
      <p:sp>
        <p:nvSpPr>
          <p:cNvPr id="13" name="Shape 9"/>
          <p:cNvSpPr/>
          <p:nvPr/>
        </p:nvSpPr>
        <p:spPr>
          <a:xfrm>
            <a:off x="3822192" y="4352544"/>
            <a:ext cx="166420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931920" y="4471416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 211 or Zoom</a:t>
            </a:r>
            <a:endParaRPr lang="en-US" sz="1060" dirty="0"/>
          </a:p>
        </p:txBody>
      </p:sp>
      <p:sp>
        <p:nvSpPr>
          <p:cNvPr id="15" name="Text 11"/>
          <p:cNvSpPr/>
          <p:nvPr/>
        </p:nvSpPr>
        <p:spPr>
          <a:xfrm>
            <a:off x="749808" y="526694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using this meeting to turn bargaining updates into action before the June 30 rally.</a:t>
            </a:r>
            <a:endParaRPr lang="en-US" sz="1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4380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87552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Today is about June 30</a:t>
            </a:r>
            <a:endParaRPr lang="en-US" sz="2614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update connects to one question: what can members do before the rally?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578608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9748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660904"/>
            <a:ext cx="6537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and the turnout ask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822960" y="3035808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15468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118104"/>
            <a:ext cx="6537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Bargaining update</a:t>
            </a:r>
            <a:endParaRPr lang="en-US" sz="1720" dirty="0"/>
          </a:p>
        </p:txBody>
      </p:sp>
      <p:sp>
        <p:nvSpPr>
          <p:cNvPr id="14" name="Shape 12"/>
          <p:cNvSpPr/>
          <p:nvPr/>
        </p:nvSpPr>
        <p:spPr>
          <a:xfrm>
            <a:off x="822960" y="3493008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61188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575304"/>
            <a:ext cx="6537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Layoff rights and job security</a:t>
            </a:r>
            <a:endParaRPr lang="en-US" sz="1720" dirty="0"/>
          </a:p>
        </p:txBody>
      </p:sp>
      <p:sp>
        <p:nvSpPr>
          <p:cNvPr id="17" name="Shape 15"/>
          <p:cNvSpPr/>
          <p:nvPr/>
        </p:nvSpPr>
        <p:spPr>
          <a:xfrm>
            <a:off x="822960" y="3950208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06908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12:35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4032504"/>
            <a:ext cx="6537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Local 083 office</a:t>
            </a:r>
            <a:endParaRPr lang="en-US" sz="1720" dirty="0"/>
          </a:p>
        </p:txBody>
      </p:sp>
      <p:sp>
        <p:nvSpPr>
          <p:cNvPr id="20" name="Shape 18"/>
          <p:cNvSpPr/>
          <p:nvPr/>
        </p:nvSpPr>
        <p:spPr>
          <a:xfrm>
            <a:off x="822960" y="4407408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52628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12:40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4489704"/>
            <a:ext cx="6537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Oregon House and Senate outreach</a:t>
            </a:r>
            <a:endParaRPr lang="en-US" sz="1720" dirty="0"/>
          </a:p>
        </p:txBody>
      </p:sp>
      <p:sp>
        <p:nvSpPr>
          <p:cNvPr id="23" name="Shape 21"/>
          <p:cNvSpPr/>
          <p:nvPr/>
        </p:nvSpPr>
        <p:spPr>
          <a:xfrm>
            <a:off x="822960" y="4864608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98348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946904"/>
            <a:ext cx="6537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29 sign-making party</a:t>
            </a:r>
            <a:endParaRPr lang="en-US" sz="1720" dirty="0"/>
          </a:p>
        </p:txBody>
      </p:sp>
      <p:sp>
        <p:nvSpPr>
          <p:cNvPr id="26" name="Shape 24"/>
          <p:cNvSpPr/>
          <p:nvPr/>
        </p:nvSpPr>
        <p:spPr>
          <a:xfrm>
            <a:off x="822960" y="5321808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44068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12:55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5404104"/>
            <a:ext cx="6537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Commitments before we leave</a:t>
            </a:r>
            <a:endParaRPr lang="en-US" sz="1720" dirty="0"/>
          </a:p>
        </p:txBody>
      </p:sp>
      <p:sp>
        <p:nvSpPr>
          <p:cNvPr id="29" name="Shape 27"/>
          <p:cNvSpPr/>
          <p:nvPr/>
        </p:nvSpPr>
        <p:spPr>
          <a:xfrm>
            <a:off x="9674352" y="2578608"/>
            <a:ext cx="1389888" cy="3063240"/>
          </a:xfrm>
          <a:prstGeom prst="roundRect">
            <a:avLst>
              <a:gd name="adj" fmla="val 5263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02952" y="3108960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passive updates.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9902952" y="4133088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section ends with action.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" y="64739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June 18,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32520" y="647395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local083.org/rally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4380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30 frame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87552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turnout matters</a:t>
            </a:r>
            <a:endParaRPr lang="en-US" sz="2614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strong rally tells management that members are paying attention and ready to act.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761488"/>
            <a:ext cx="2944368" cy="1993392"/>
          </a:xfrm>
          <a:prstGeom prst="roundRect">
            <a:avLst>
              <a:gd name="adj" fmla="val 3670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0358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Bargaining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992" y="354787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needs to see that proposals have consequences with members.</a:t>
            </a:r>
            <a:endParaRPr lang="en-US" sz="1530" dirty="0"/>
          </a:p>
        </p:txBody>
      </p:sp>
      <p:sp>
        <p:nvSpPr>
          <p:cNvPr id="11" name="Shape 9"/>
          <p:cNvSpPr/>
          <p:nvPr/>
        </p:nvSpPr>
        <p:spPr>
          <a:xfrm>
            <a:off x="4169664" y="2761488"/>
            <a:ext cx="2944368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30358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Job security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25696" y="354787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Layoff protections matter most when members are organized to enforce them.</a:t>
            </a:r>
            <a:endParaRPr lang="en-US" sz="1530" dirty="0"/>
          </a:p>
        </p:txBody>
      </p:sp>
      <p:sp>
        <p:nvSpPr>
          <p:cNvPr id="14" name="Shape 12"/>
          <p:cNvSpPr/>
          <p:nvPr/>
        </p:nvSpPr>
        <p:spPr>
          <a:xfrm>
            <a:off x="7516368" y="2761488"/>
            <a:ext cx="2944368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0358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Public pressure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0" y="354787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Lawmakers need to hear why OSU workers and our contract matter.</a:t>
            </a:r>
            <a:endParaRPr lang="en-US" sz="1530" dirty="0"/>
          </a:p>
        </p:txBody>
      </p:sp>
      <p:sp>
        <p:nvSpPr>
          <p:cNvPr id="17" name="Shape 15"/>
          <p:cNvSpPr/>
          <p:nvPr/>
        </p:nvSpPr>
        <p:spPr>
          <a:xfrm>
            <a:off x="822960" y="5266944"/>
            <a:ext cx="9966960" cy="585216"/>
          </a:xfrm>
          <a:prstGeom prst="roundRect">
            <a:avLst>
              <a:gd name="adj" fmla="val 12500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449824"/>
            <a:ext cx="928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rally is not extra. It is part of how we bargain.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" y="64739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June 18,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32520" y="647395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local083.org/rally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4380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Bargaining update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87552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members need to know</a:t>
            </a:r>
            <a:endParaRPr lang="en-US" sz="2614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this plain: what is on the table, what is at stake, and why member turnout changes the room.</a:t>
            </a:r>
            <a:endParaRPr lang="en-US" sz="1730" dirty="0"/>
          </a:p>
        </p:txBody>
      </p:sp>
      <p:sp>
        <p:nvSpPr>
          <p:cNvPr id="8" name="Shape 6"/>
          <p:cNvSpPr/>
          <p:nvPr/>
        </p:nvSpPr>
        <p:spPr>
          <a:xfrm>
            <a:off x="822960" y="2542032"/>
            <a:ext cx="4645152" cy="2907792"/>
          </a:xfrm>
          <a:prstGeom prst="roundRect">
            <a:avLst>
              <a:gd name="adj" fmla="val 251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788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7F1D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Management is offering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3246120"/>
            <a:ext cx="3877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raises or COLA for four years</a:t>
            </a:r>
            <a:endParaRPr lang="en-US" sz="162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on overtime and leave rights</a:t>
            </a:r>
            <a:endParaRPr lang="en-US" sz="162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Weaker standards when members need stronger protections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5797296" y="2542032"/>
            <a:ext cx="5010912" cy="2907792"/>
          </a:xfrm>
          <a:prstGeom prst="roundRect">
            <a:avLst>
              <a:gd name="adj" fmla="val 2516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27889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53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union is fighting for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144768" y="3246120"/>
            <a:ext cx="4187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raises and a fair contract</a:t>
            </a:r>
            <a:endParaRPr lang="en-US" sz="162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Stronger layoff and workplace protections</a:t>
            </a:r>
            <a:endParaRPr lang="en-US" sz="162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contract that respects the work classified staff do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3931920" y="580644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5925312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Turnout makes the stakes visible.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64739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June 18,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32520" y="647395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local083.org/rally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4380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Layoff rights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87552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Layoff rights are contract rights</a:t>
            </a:r>
            <a:endParaRPr lang="en-US" sz="2614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CBA gives members notice, choices, placement rights, and recall rights. The clock moves fast.</a:t>
            </a:r>
            <a:endParaRPr lang="en-US" sz="1720" dirty="0"/>
          </a:p>
        </p:txBody>
      </p:sp>
      <p:sp>
        <p:nvSpPr>
          <p:cNvPr id="8" name="Shape 6"/>
          <p:cNvSpPr/>
          <p:nvPr/>
        </p:nvSpPr>
        <p:spPr>
          <a:xfrm>
            <a:off x="822960" y="2633472"/>
            <a:ext cx="4617720" cy="987552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7977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44 Sec. 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51560" y="2990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Written notice</a:t>
            </a:r>
            <a:endParaRPr lang="en-US" sz="2020" dirty="0"/>
          </a:p>
        </p:txBody>
      </p:sp>
      <p:sp>
        <p:nvSpPr>
          <p:cNvPr id="11" name="Text 9"/>
          <p:cNvSpPr/>
          <p:nvPr/>
        </p:nvSpPr>
        <p:spPr>
          <a:xfrm>
            <a:off x="2724912" y="28529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calendar days before layoff; 15 only if beyond Employer control.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70448" y="2633472"/>
            <a:ext cx="4617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9048" y="277977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44 Sec. 3(A)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099048" y="2990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Five work days</a:t>
            </a:r>
            <a:endParaRPr lang="en-US" sz="2020" dirty="0"/>
          </a:p>
        </p:txBody>
      </p:sp>
      <p:sp>
        <p:nvSpPr>
          <p:cNvPr id="15" name="Text 13"/>
          <p:cNvSpPr/>
          <p:nvPr/>
        </p:nvSpPr>
        <p:spPr>
          <a:xfrm>
            <a:off x="7772400" y="28529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notice, choose the full process or direct layoff/recall.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877056"/>
            <a:ext cx="4617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02336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44 Secs. 3(E), 3(F)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51560" y="42336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Placement first</a:t>
            </a:r>
            <a:endParaRPr lang="en-US" sz="2020" dirty="0"/>
          </a:p>
        </p:txBody>
      </p:sp>
      <p:sp>
        <p:nvSpPr>
          <p:cNvPr id="19" name="Text 17"/>
          <p:cNvSpPr/>
          <p:nvPr/>
        </p:nvSpPr>
        <p:spPr>
          <a:xfrm>
            <a:off x="2724912" y="409651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Vacant jobs come before bumping; employee must be position-qualified.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70448" y="3877056"/>
            <a:ext cx="4617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402336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44 Secs. 9-10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099048" y="42336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Recall rights</a:t>
            </a:r>
            <a:endParaRPr lang="en-US" sz="2020" dirty="0"/>
          </a:p>
        </p:txBody>
      </p:sp>
      <p:sp>
        <p:nvSpPr>
          <p:cNvPr id="23" name="Text 21"/>
          <p:cNvSpPr/>
          <p:nvPr/>
        </p:nvSpPr>
        <p:spPr>
          <a:xfrm>
            <a:off x="7772400" y="409651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lists use classification, employment category, geography, and seniority.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321808"/>
            <a:ext cx="9665208" cy="493776"/>
          </a:xfrm>
          <a:prstGeom prst="roundRect">
            <a:avLst>
              <a:gd name="adj" fmla="val 14815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547725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receive a notice: contact a steward immediately, keep the notice, and track every deadline.</a:t>
            </a:r>
            <a:endParaRPr lang="en-US" sz="1470" dirty="0"/>
          </a:p>
        </p:txBody>
      </p:sp>
      <p:sp>
        <p:nvSpPr>
          <p:cNvPr id="26" name="Text 24"/>
          <p:cNvSpPr/>
          <p:nvPr/>
        </p:nvSpPr>
        <p:spPr>
          <a:xfrm>
            <a:off x="658368" y="6272784"/>
            <a:ext cx="10872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SEIU/Oregon Public Universities CBA 2022-2026, Article 44 - Layoff, Secs. 1, 3(A), 3(E), 3(F), 9-10.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58368" y="64739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June 18,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32520" y="647395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local083.org/rally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4380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Layoff process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87552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After notice: the short version</a:t>
            </a:r>
            <a:endParaRPr lang="en-US" sz="2614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 is not automatic protection. Members have to answer quickly and use the contract.</a:t>
            </a:r>
            <a:endParaRPr lang="en-US" sz="1720" dirty="0"/>
          </a:p>
        </p:txBody>
      </p:sp>
      <p:sp>
        <p:nvSpPr>
          <p:cNvPr id="8" name="Shape 6"/>
          <p:cNvSpPr/>
          <p:nvPr/>
        </p:nvSpPr>
        <p:spPr>
          <a:xfrm>
            <a:off x="685800" y="2487168"/>
            <a:ext cx="1865376" cy="2084832"/>
          </a:xfrm>
          <a:prstGeom prst="roundRect">
            <a:avLst>
              <a:gd name="adj" fmla="val 3922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706624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825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344168" y="276148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Notice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886968" y="340156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notice + rights.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86968" y="41422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44 Sec. 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606040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926080" y="2487168"/>
            <a:ext cx="1865376" cy="20848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2706624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2825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584448" y="276148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Choose</a:t>
            </a:r>
            <a:endParaRPr lang="en-US" sz="1880" dirty="0"/>
          </a:p>
        </p:txBody>
      </p:sp>
      <p:sp>
        <p:nvSpPr>
          <p:cNvPr id="19" name="Text 17"/>
          <p:cNvSpPr/>
          <p:nvPr/>
        </p:nvSpPr>
        <p:spPr>
          <a:xfrm>
            <a:off x="3127248" y="340156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work days to elect the path.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3127248" y="41422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44 Sec. 3(A)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166360" y="2487168"/>
            <a:ext cx="1865376" cy="20848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30952" y="2706624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0952" y="2825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5824728" y="276148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Vacancies</a:t>
            </a:r>
            <a:endParaRPr lang="en-US" sz="1880" dirty="0"/>
          </a:p>
        </p:txBody>
      </p:sp>
      <p:sp>
        <p:nvSpPr>
          <p:cNvPr id="26" name="Text 24"/>
          <p:cNvSpPr/>
          <p:nvPr/>
        </p:nvSpPr>
        <p:spPr>
          <a:xfrm>
            <a:off x="5367528" y="340156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class, same range, then lower range.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5367528" y="41422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44 Sec. 3(E)(1)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086600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406640" y="2487168"/>
            <a:ext cx="1865376" cy="20848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71232" y="2706624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1232" y="2825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065008" y="276148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Bumping</a:t>
            </a:r>
            <a:endParaRPr lang="en-US" sz="1880" dirty="0"/>
          </a:p>
        </p:txBody>
      </p:sp>
      <p:sp>
        <p:nvSpPr>
          <p:cNvPr id="33" name="Text 31"/>
          <p:cNvSpPr/>
          <p:nvPr/>
        </p:nvSpPr>
        <p:spPr>
          <a:xfrm>
            <a:off x="7607808" y="340156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seniority only; must be qualified.</a:t>
            </a:r>
            <a:endParaRPr lang="en-US" sz="1240" dirty="0"/>
          </a:p>
        </p:txBody>
      </p:sp>
      <p:sp>
        <p:nvSpPr>
          <p:cNvPr id="34" name="Text 32"/>
          <p:cNvSpPr/>
          <p:nvPr/>
        </p:nvSpPr>
        <p:spPr>
          <a:xfrm>
            <a:off x="7607808" y="41422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44 Secs. 3(E)(2), 3(F)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9326880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9646920" y="2487168"/>
            <a:ext cx="1865376" cy="2084832"/>
          </a:xfrm>
          <a:prstGeom prst="roundRect">
            <a:avLst>
              <a:gd name="adj" fmla="val 3922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11512" y="2706624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11512" y="2825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10305288" y="276148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Recall</a:t>
            </a:r>
            <a:endParaRPr lang="en-US" sz="1880" dirty="0"/>
          </a:p>
        </p:txBody>
      </p:sp>
      <p:sp>
        <p:nvSpPr>
          <p:cNvPr id="40" name="Text 38"/>
          <p:cNvSpPr/>
          <p:nvPr/>
        </p:nvSpPr>
        <p:spPr>
          <a:xfrm>
            <a:off x="9848088" y="340156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Seniority order; one refusal allowed.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9848088" y="41422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44 Sec. 10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22960" y="5074920"/>
            <a:ext cx="4718304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8992" y="52852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funds: Union/HR meet on alternatives if requested.</a:t>
            </a:r>
            <a:endParaRPr lang="en-US" sz="1340" dirty="0"/>
          </a:p>
        </p:txBody>
      </p:sp>
      <p:sp>
        <p:nvSpPr>
          <p:cNvPr id="44" name="Shape 42"/>
          <p:cNvSpPr/>
          <p:nvPr/>
        </p:nvSpPr>
        <p:spPr>
          <a:xfrm>
            <a:off x="5833872" y="5074920"/>
            <a:ext cx="4974336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08192" y="5285232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work over 15 days triggers Article 44.</a:t>
            </a:r>
            <a:endParaRPr lang="en-US" sz="1340" dirty="0"/>
          </a:p>
        </p:txBody>
      </p:sp>
      <p:sp>
        <p:nvSpPr>
          <p:cNvPr id="46" name="Text 44"/>
          <p:cNvSpPr/>
          <p:nvPr/>
        </p:nvSpPr>
        <p:spPr>
          <a:xfrm>
            <a:off x="658368" y="6272784"/>
            <a:ext cx="10872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CBA Art. 44 Secs. 1, 3(A), 3(E), 3(F), 10-11; Art. 50 Sec. 12.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658368" y="64739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June 18,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32520" y="647395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local083.org/rally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4380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083 office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87552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 have a new office</a:t>
            </a:r>
            <a:endParaRPr lang="en-US" sz="2614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organizing capacity: a place for questions, planning, outreach, and member follow-up.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99669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999232"/>
            <a:ext cx="2423160" cy="1243584"/>
          </a:xfrm>
          <a:prstGeom prst="roundRect">
            <a:avLst>
              <a:gd name="adj" fmla="val 588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32186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44752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 can talk through questions and next steps.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297680" y="2999232"/>
            <a:ext cx="2423160" cy="1243584"/>
          </a:xfrm>
          <a:prstGeom prst="roundRect">
            <a:avLst>
              <a:gd name="adj" fmla="val 5882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32186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07992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can prep outreach, materials, and rally turnout.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360920" y="2999232"/>
            <a:ext cx="2423160" cy="1243584"/>
          </a:xfrm>
          <a:prstGeom prst="roundRect">
            <a:avLst>
              <a:gd name="adj" fmla="val 588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32186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Follow up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71232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can connect members with stewards and leaders.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3072384" y="4736592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4855464"/>
            <a:ext cx="5221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office to build the June 30 turnout plan.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" y="64739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June 18,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32520" y="647395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local083.org/rally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4380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Legislative outreach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87552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Members need to talk with lawmakers</a:t>
            </a:r>
            <a:endParaRPr lang="en-US" sz="2614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looking for members to meet with Oregon House and Senate members before the rally.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4754880" cy="2999232"/>
          </a:xfrm>
          <a:prstGeom prst="roundRect">
            <a:avLst>
              <a:gd name="adj" fmla="val 2439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834640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 do not need to be a policy expert.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43000" y="3822192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need to be able to explain what your job is, what OSU workers are facing, and why this contract matters.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53328" y="2487168"/>
            <a:ext cx="475488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78892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STORIES LAWMAKERS NEED TO HEAR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3246120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68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Wages and cost of living</a:t>
            </a:r>
            <a:endParaRPr lang="en-US" sz="168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68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and workload</a:t>
            </a:r>
            <a:endParaRPr lang="en-US" sz="168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68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Layoffs and job security</a:t>
            </a:r>
            <a:endParaRPr lang="en-US" sz="168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68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classified staff keep OSU running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658368" y="64739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June 18,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32520" y="647395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local083.org/rally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xsnjohnson/github/seiu-website/resources/zoom-backgrounds/2026-bargaining/SEIU-503-Bargaining-2026-Campus-Landscape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>
              <a:alpha val="66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86384" y="96012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Sign-making party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2029968"/>
            <a:ext cx="5440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E9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Monday, June 29 | 5-7 p.m.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9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Westminster House on Monroe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3364992"/>
            <a:ext cx="52303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367588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 make signs, bring a coworker, and help us get ready to show OSU that classified staff are organized for a fair contract.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54864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night before is part of the turnout plan.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xsnjohnson/github/seiu-website/resources/zoom-backgrounds/2026-bargaining/SEIU-503-Bargaining-2026-Fists-Landscape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>
              <a:alpha val="56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9808" y="84124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June 30: show up for our contract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86384" y="1956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June 30 | Noon-1 p.m. | McNary Field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2816352"/>
            <a:ext cx="521208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33856" y="3127248"/>
            <a:ext cx="44622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up now</a:t>
            </a:r>
            <a:endParaRPr lang="en-US" sz="182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Wear purple</a:t>
            </a:r>
            <a:endParaRPr lang="en-US" sz="182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one coworker</a:t>
            </a:r>
            <a:endParaRPr lang="en-US" sz="182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8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turn out your work area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7388352" y="2450592"/>
            <a:ext cx="3310128" cy="342900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/Users/jaxsnjohnson/github/seiu-website/images/rally-signup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8" y="2743200"/>
            <a:ext cx="2514600" cy="2514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62672" y="537667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local083.org/rally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4380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87552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Before you log off</a:t>
            </a:r>
            <a:endParaRPr lang="en-US" sz="2614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886968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next step you can take before June 30.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87552" y="2642616"/>
            <a:ext cx="310896" cy="3108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7249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463040" y="2615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up for the June 30 rally.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987552" y="3118104"/>
            <a:ext cx="310896" cy="3108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2004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463040" y="309067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one coworker with you.</a:t>
            </a:r>
            <a:endParaRPr lang="en-US" sz="1720" dirty="0"/>
          </a:p>
        </p:txBody>
      </p:sp>
      <p:sp>
        <p:nvSpPr>
          <p:cNvPr id="14" name="Shape 12"/>
          <p:cNvSpPr/>
          <p:nvPr/>
        </p:nvSpPr>
        <p:spPr>
          <a:xfrm>
            <a:off x="987552" y="3593592"/>
            <a:ext cx="310896" cy="3108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67588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463040" y="35661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 to the June 29 sign-making party.</a:t>
            </a:r>
            <a:endParaRPr lang="en-US" sz="1720" dirty="0"/>
          </a:p>
        </p:txBody>
      </p:sp>
      <p:sp>
        <p:nvSpPr>
          <p:cNvPr id="17" name="Shape 15"/>
          <p:cNvSpPr/>
          <p:nvPr/>
        </p:nvSpPr>
        <p:spPr>
          <a:xfrm>
            <a:off x="987552" y="4069080"/>
            <a:ext cx="310896" cy="3108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1513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1463040" y="404164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Volunteer for a legislative meeting.</a:t>
            </a:r>
            <a:endParaRPr lang="en-US" sz="1720" dirty="0"/>
          </a:p>
        </p:txBody>
      </p:sp>
      <p:sp>
        <p:nvSpPr>
          <p:cNvPr id="20" name="Shape 18"/>
          <p:cNvSpPr/>
          <p:nvPr/>
        </p:nvSpPr>
        <p:spPr>
          <a:xfrm>
            <a:off x="987552" y="4544568"/>
            <a:ext cx="310896" cy="3108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6268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463040" y="451713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 to a steward if you have layoff questions.</a:t>
            </a:r>
            <a:endParaRPr lang="en-US" sz="1720" dirty="0"/>
          </a:p>
        </p:txBody>
      </p:sp>
      <p:sp>
        <p:nvSpPr>
          <p:cNvPr id="23" name="Shape 21"/>
          <p:cNvSpPr/>
          <p:nvPr/>
        </p:nvSpPr>
        <p:spPr>
          <a:xfrm>
            <a:off x="987552" y="5020056"/>
            <a:ext cx="310896" cy="3108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1023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1463040" y="49926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turn out your work area.</a:t>
            </a:r>
            <a:endParaRPr lang="en-US" sz="1720" dirty="0"/>
          </a:p>
        </p:txBody>
      </p:sp>
      <p:sp>
        <p:nvSpPr>
          <p:cNvPr id="26" name="Shape 24"/>
          <p:cNvSpPr/>
          <p:nvPr/>
        </p:nvSpPr>
        <p:spPr>
          <a:xfrm>
            <a:off x="7543800" y="246888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27889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Contact paths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863840" y="331012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083execteam@seiu503.org</a:t>
            </a:r>
            <a:endParaRPr lang="en-US" sz="1460" dirty="0"/>
          </a:p>
          <a:p>
            <a:pPr indent="0" marL="0">
              <a:buNone/>
            </a:pPr>
            <a:r>
              <a:rPr lang="en-US" sz="14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083stewards@seiu503.org</a:t>
            </a:r>
            <a:endParaRPr lang="en-US" sz="1460" dirty="0"/>
          </a:p>
        </p:txBody>
      </p:sp>
      <p:sp>
        <p:nvSpPr>
          <p:cNvPr id="29" name="Shape 27"/>
          <p:cNvSpPr/>
          <p:nvPr/>
        </p:nvSpPr>
        <p:spPr>
          <a:xfrm>
            <a:off x="822960" y="5715000"/>
            <a:ext cx="9966960" cy="493776"/>
          </a:xfrm>
          <a:prstGeom prst="roundRect">
            <a:avLst>
              <a:gd name="adj" fmla="val 14815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5870448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contract is stronger when members show up together.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58368" y="64739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June 18,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32520" y="647395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local083.org/rally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SEIU Local 503 at Oregon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Membership Meeting June 18 2026</dc:title>
  <dc:subject>Membership meeting deck for June 18, 2026</dc:subject>
  <dc:creator>SEIU Local 503 Sublocal 083</dc:creator>
  <cp:lastModifiedBy>SEIU Local 503 Sublocal 083</cp:lastModifiedBy>
  <cp:revision>1</cp:revision>
  <dcterms:created xsi:type="dcterms:W3CDTF">2026-06-18T17:06:13Z</dcterms:created>
  <dcterms:modified xsi:type="dcterms:W3CDTF">2026-06-18T17:06:13Z</dcterms:modified>
</cp:coreProperties>
</file>