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xsnjohnson/github/seiu-website/resources/zoom-backgrounds/2026-bargaining/SEIU-503-Bargaining-2026-Fists-Landscape.png">    </p:cNvPr>
          <p:cNvPicPr>
            <a:picLocks noChangeAspect="1"/>
          </p:cNvPicPr>
          <p:nvPr/>
        </p:nvPicPr>
        <p:blipFill>
          <a:blip r:embed="rId1"/>
          <a:srcRect l="25201" r="25201" t="0" b="0"/>
          <a:stretch/>
        </p:blipFill>
        <p:spPr>
          <a:xfrm>
            <a:off x="6144768" y="0"/>
            <a:ext cx="6046927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144768" y="0"/>
            <a:ext cx="6046927" cy="6858000"/>
          </a:xfrm>
          <a:prstGeom prst="rect">
            <a:avLst/>
          </a:prstGeom>
          <a:solidFill>
            <a:srgbClr val="4C1D95">
              <a:alpha val="62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565392" cy="6858000"/>
          </a:xfrm>
          <a:prstGeom prst="rect">
            <a:avLst/>
          </a:prstGeom>
          <a:solidFill>
            <a:srgbClr val="4C1D95"/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pic>
        <p:nvPicPr>
          <p:cNvPr id="5" name="Image 1" descr="/Users/jaxsnjohnson/github/seiu-website/image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875" y="713232"/>
            <a:ext cx="689946" cy="7132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572768" y="93268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SEIU Local 083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713232" y="1481328"/>
            <a:ext cx="51663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June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Membership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Meeting</a:t>
            </a:r>
            <a:endParaRPr lang="en-US" sz="4200" dirty="0"/>
          </a:p>
        </p:txBody>
      </p:sp>
      <p:sp>
        <p:nvSpPr>
          <p:cNvPr id="8" name="Text 4"/>
          <p:cNvSpPr/>
          <p:nvPr/>
        </p:nvSpPr>
        <p:spPr>
          <a:xfrm>
            <a:off x="749808" y="36576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D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 power starts with turnout.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749808" y="4352544"/>
            <a:ext cx="1499616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59536" y="4471416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Thursday, June 18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377440" y="4352544"/>
            <a:ext cx="1499616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487168" y="4471416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Noon to 1 p.m.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005072" y="4352544"/>
            <a:ext cx="1499616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114800" y="4471416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via Zoom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49808" y="5266944"/>
            <a:ext cx="4663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8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are using this meeting to turn bargaining updates into action before the June 30 rally.</a:t>
            </a:r>
            <a:endParaRPr lang="en-US" sz="1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SEIU Local 503 at Oregon State University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7543800" y="3474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10835640" y="3474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658368" y="713232"/>
            <a:ext cx="1087221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987552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4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Today is about June 30</a:t>
            </a:r>
            <a:endParaRPr lang="en-US" sz="2614" dirty="0"/>
          </a:p>
        </p:txBody>
      </p:sp>
      <p:sp>
        <p:nvSpPr>
          <p:cNvPr id="7" name="Text 5"/>
          <p:cNvSpPr/>
          <p:nvPr/>
        </p:nvSpPr>
        <p:spPr>
          <a:xfrm>
            <a:off x="658368" y="1828800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update connects to one question: what can members do before the rally?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578608"/>
            <a:ext cx="8412480" cy="438912"/>
          </a:xfrm>
          <a:prstGeom prst="roundRect">
            <a:avLst>
              <a:gd name="adj" fmla="val 16667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9748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12:00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20240" y="2660904"/>
            <a:ext cx="6537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 and the turnout ask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822960" y="3035808"/>
            <a:ext cx="84124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15468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12:05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3118104"/>
            <a:ext cx="6537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Bargaining update</a:t>
            </a:r>
            <a:endParaRPr lang="en-US" sz="172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84124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61188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12:20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20240" y="3575304"/>
            <a:ext cx="6537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Layoff rights and job security</a:t>
            </a:r>
            <a:endParaRPr lang="en-US" sz="1720" dirty="0"/>
          </a:p>
        </p:txBody>
      </p:sp>
      <p:sp>
        <p:nvSpPr>
          <p:cNvPr id="17" name="Shape 15"/>
          <p:cNvSpPr/>
          <p:nvPr/>
        </p:nvSpPr>
        <p:spPr>
          <a:xfrm>
            <a:off x="822960" y="3950208"/>
            <a:ext cx="84124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406908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12:35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20240" y="4032504"/>
            <a:ext cx="6537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Local 083 office</a:t>
            </a:r>
            <a:endParaRPr lang="en-US" sz="1720" dirty="0"/>
          </a:p>
        </p:txBody>
      </p:sp>
      <p:sp>
        <p:nvSpPr>
          <p:cNvPr id="20" name="Shape 18"/>
          <p:cNvSpPr/>
          <p:nvPr/>
        </p:nvSpPr>
        <p:spPr>
          <a:xfrm>
            <a:off x="822960" y="4407408"/>
            <a:ext cx="84124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452628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12:40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920240" y="4489704"/>
            <a:ext cx="6537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Oregon House and Senate outreach</a:t>
            </a:r>
            <a:endParaRPr lang="en-US" sz="1720" dirty="0"/>
          </a:p>
        </p:txBody>
      </p:sp>
      <p:sp>
        <p:nvSpPr>
          <p:cNvPr id="23" name="Shape 21"/>
          <p:cNvSpPr/>
          <p:nvPr/>
        </p:nvSpPr>
        <p:spPr>
          <a:xfrm>
            <a:off x="822960" y="4864608"/>
            <a:ext cx="84124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98348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12:50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920240" y="4946904"/>
            <a:ext cx="6537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 29 sign-making party</a:t>
            </a:r>
            <a:endParaRPr lang="en-US" sz="1720" dirty="0"/>
          </a:p>
        </p:txBody>
      </p:sp>
      <p:sp>
        <p:nvSpPr>
          <p:cNvPr id="26" name="Shape 24"/>
          <p:cNvSpPr/>
          <p:nvPr/>
        </p:nvSpPr>
        <p:spPr>
          <a:xfrm>
            <a:off x="822960" y="5321808"/>
            <a:ext cx="8412480" cy="438912"/>
          </a:xfrm>
          <a:prstGeom prst="roundRect">
            <a:avLst>
              <a:gd name="adj" fmla="val 16667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440680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12:55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920240" y="5404104"/>
            <a:ext cx="6537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Commitments before we leave</a:t>
            </a:r>
            <a:endParaRPr lang="en-US" sz="1720" dirty="0"/>
          </a:p>
        </p:txBody>
      </p:sp>
      <p:sp>
        <p:nvSpPr>
          <p:cNvPr id="29" name="Shape 27"/>
          <p:cNvSpPr/>
          <p:nvPr/>
        </p:nvSpPr>
        <p:spPr>
          <a:xfrm>
            <a:off x="9674352" y="2578608"/>
            <a:ext cx="1389888" cy="3063240"/>
          </a:xfrm>
          <a:prstGeom prst="roundRect">
            <a:avLst>
              <a:gd name="adj" fmla="val 5263"/>
            </a:avLst>
          </a:prstGeom>
          <a:solidFill>
            <a:srgbClr val="4C1D95"/>
          </a:solidFill>
          <a:ln w="12700">
            <a:solidFill>
              <a:srgbClr val="4C1D9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02952" y="3108960"/>
            <a:ext cx="9326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No passive updates.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9902952" y="4133088"/>
            <a:ext cx="9326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D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section ends with action.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58368" y="6473952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Membership meeting | June 18, 2026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732520" y="6473952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local083.org/rally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SEIU Local 503 at Oregon State University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7543800" y="3474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 30 frame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10835640" y="3474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658368" y="713232"/>
            <a:ext cx="1087221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987552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4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Why turnout matters</a:t>
            </a:r>
            <a:endParaRPr lang="en-US" sz="2614" dirty="0"/>
          </a:p>
        </p:txBody>
      </p:sp>
      <p:sp>
        <p:nvSpPr>
          <p:cNvPr id="7" name="Text 5"/>
          <p:cNvSpPr/>
          <p:nvPr/>
        </p:nvSpPr>
        <p:spPr>
          <a:xfrm>
            <a:off x="658368" y="1828800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strong rally tells management that members are paying attention and ready to act.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761488"/>
            <a:ext cx="2944368" cy="1993392"/>
          </a:xfrm>
          <a:prstGeom prst="roundRect">
            <a:avLst>
              <a:gd name="adj" fmla="val 3670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303580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Bargaining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78992" y="3547872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needs to see that proposals have consequences with members.</a:t>
            </a:r>
            <a:endParaRPr lang="en-US" sz="1530" dirty="0"/>
          </a:p>
        </p:txBody>
      </p:sp>
      <p:sp>
        <p:nvSpPr>
          <p:cNvPr id="11" name="Shape 9"/>
          <p:cNvSpPr/>
          <p:nvPr/>
        </p:nvSpPr>
        <p:spPr>
          <a:xfrm>
            <a:off x="4169664" y="2761488"/>
            <a:ext cx="2944368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25696" y="303580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Job security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425696" y="3547872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Layoff protections matter most when members are organized to enforce them.</a:t>
            </a:r>
            <a:endParaRPr lang="en-US" sz="1530" dirty="0"/>
          </a:p>
        </p:txBody>
      </p:sp>
      <p:sp>
        <p:nvSpPr>
          <p:cNvPr id="14" name="Shape 12"/>
          <p:cNvSpPr/>
          <p:nvPr/>
        </p:nvSpPr>
        <p:spPr>
          <a:xfrm>
            <a:off x="7516368" y="2761488"/>
            <a:ext cx="2944368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303580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Public pressure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772400" y="3547872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Lawmakers need to hear why OSU workers and our contract matter.</a:t>
            </a:r>
            <a:endParaRPr lang="en-US" sz="1530" dirty="0"/>
          </a:p>
        </p:txBody>
      </p:sp>
      <p:sp>
        <p:nvSpPr>
          <p:cNvPr id="17" name="Shape 15"/>
          <p:cNvSpPr/>
          <p:nvPr/>
        </p:nvSpPr>
        <p:spPr>
          <a:xfrm>
            <a:off x="822960" y="5266944"/>
            <a:ext cx="9966960" cy="585216"/>
          </a:xfrm>
          <a:prstGeom prst="roundRect">
            <a:avLst>
              <a:gd name="adj" fmla="val 12500"/>
            </a:avLst>
          </a:prstGeom>
          <a:solidFill>
            <a:srgbClr val="4C1D95"/>
          </a:solidFill>
          <a:ln w="12700">
            <a:solidFill>
              <a:srgbClr val="4C1D9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5449824"/>
            <a:ext cx="9281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rally is not extra. It is part of how we bargain.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8368" y="6473952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Membership meeting | June 18,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732520" y="6473952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local083.org/rally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SEIU Local 503 at Oregon State University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7543800" y="3474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Bargaining update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10835640" y="3474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658368" y="713232"/>
            <a:ext cx="1087221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987552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4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What members need to know</a:t>
            </a:r>
            <a:endParaRPr lang="en-US" sz="2614" dirty="0"/>
          </a:p>
        </p:txBody>
      </p:sp>
      <p:sp>
        <p:nvSpPr>
          <p:cNvPr id="7" name="Text 5"/>
          <p:cNvSpPr/>
          <p:nvPr/>
        </p:nvSpPr>
        <p:spPr>
          <a:xfrm>
            <a:off x="658368" y="1828800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3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this plain: what is on the table, what is at stake, and why member turnout changes the room.</a:t>
            </a:r>
            <a:endParaRPr lang="en-US" sz="1730" dirty="0"/>
          </a:p>
        </p:txBody>
      </p:sp>
      <p:sp>
        <p:nvSpPr>
          <p:cNvPr id="8" name="Shape 6"/>
          <p:cNvSpPr/>
          <p:nvPr/>
        </p:nvSpPr>
        <p:spPr>
          <a:xfrm>
            <a:off x="822960" y="2542032"/>
            <a:ext cx="4645152" cy="2907792"/>
          </a:xfrm>
          <a:prstGeom prst="roundRect">
            <a:avLst>
              <a:gd name="adj" fmla="val 2516"/>
            </a:avLst>
          </a:prstGeom>
          <a:solidFill>
            <a:srgbClr val="FEE2E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278892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F1D1D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Management is offering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1143000" y="3246120"/>
            <a:ext cx="38770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6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raises or COLA for four years</a:t>
            </a:r>
            <a:endParaRPr lang="en-US" sz="162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6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 on overtime and leave rights</a:t>
            </a:r>
            <a:endParaRPr lang="en-US" sz="162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6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Weaker standards when members need stronger protections</a:t>
            </a:r>
            <a:endParaRPr lang="en-US" sz="1620" dirty="0"/>
          </a:p>
        </p:txBody>
      </p:sp>
      <p:sp>
        <p:nvSpPr>
          <p:cNvPr id="11" name="Shape 9"/>
          <p:cNvSpPr/>
          <p:nvPr/>
        </p:nvSpPr>
        <p:spPr>
          <a:xfrm>
            <a:off x="5797296" y="2542032"/>
            <a:ext cx="5010912" cy="2907792"/>
          </a:xfrm>
          <a:prstGeom prst="roundRect">
            <a:avLst>
              <a:gd name="adj" fmla="val 2516"/>
            </a:avLst>
          </a:prstGeom>
          <a:solidFill>
            <a:srgbClr val="DCFCE7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08192" y="27889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4532D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Our union is fighting for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6144768" y="3246120"/>
            <a:ext cx="41879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6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raises and a fair contract</a:t>
            </a:r>
            <a:endParaRPr lang="en-US" sz="162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6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Stronger layoff and workplace protections</a:t>
            </a:r>
            <a:endParaRPr lang="en-US" sz="1620" dirty="0"/>
          </a:p>
          <a:p>
            <a:pPr marL="190500" indent="-190500">
              <a:spcAft>
                <a:spcPts val="300"/>
              </a:spcAft>
              <a:buSzPct val="100000"/>
              <a:buChar char="•"/>
            </a:pPr>
            <a:r>
              <a:rPr lang="en-US" sz="16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contract that respects the work classified staff do</a:t>
            </a:r>
            <a:endParaRPr lang="en-US" sz="1620" dirty="0"/>
          </a:p>
        </p:txBody>
      </p:sp>
      <p:sp>
        <p:nvSpPr>
          <p:cNvPr id="14" name="Shape 12"/>
          <p:cNvSpPr/>
          <p:nvPr/>
        </p:nvSpPr>
        <p:spPr>
          <a:xfrm>
            <a:off x="3931920" y="5806440"/>
            <a:ext cx="3931920" cy="457200"/>
          </a:xfrm>
          <a:prstGeom prst="roundRect">
            <a:avLst>
              <a:gd name="adj" fmla="val 16000"/>
            </a:avLst>
          </a:prstGeom>
          <a:solidFill>
            <a:srgbClr val="4C1D95"/>
          </a:solidFill>
          <a:ln w="12700">
            <a:solidFill>
              <a:srgbClr val="4C1D9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41648" y="5925312"/>
            <a:ext cx="3712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Turnout makes the stakes visible.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" y="6473952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Membership meeting | June 18,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2520" y="6473952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local083.org/rally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SEIU Local 503 at Oregon State University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7543800" y="3474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Layoff rights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10835640" y="3474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658368" y="713232"/>
            <a:ext cx="1087221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987552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4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Layoff rights are contract rights</a:t>
            </a:r>
            <a:endParaRPr lang="en-US" sz="2614" dirty="0"/>
          </a:p>
        </p:txBody>
      </p:sp>
      <p:sp>
        <p:nvSpPr>
          <p:cNvPr id="7" name="Text 5"/>
          <p:cNvSpPr/>
          <p:nvPr/>
        </p:nvSpPr>
        <p:spPr>
          <a:xfrm>
            <a:off x="658368" y="1828800"/>
            <a:ext cx="8869680" cy="5372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 should not face rumors, notices, or displacement questions alone.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450592"/>
            <a:ext cx="4407408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724912"/>
            <a:ext cx="3291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HEAR A RUMOR OR RECEIVE NOTICE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143000" y="3154680"/>
            <a:ext cx="310896" cy="31089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3236976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1618488" y="3127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our union.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1143000" y="3703320"/>
            <a:ext cx="310896" cy="31089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3785616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1618488" y="36758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Talk with a steward.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1143000" y="4251960"/>
            <a:ext cx="310896" cy="31089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4334256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1618488" y="42245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records and dates.</a:t>
            </a:r>
            <a:endParaRPr lang="en-US" sz="1750" dirty="0"/>
          </a:p>
        </p:txBody>
      </p:sp>
      <p:sp>
        <p:nvSpPr>
          <p:cNvPr id="19" name="Shape 17"/>
          <p:cNvSpPr/>
          <p:nvPr/>
        </p:nvSpPr>
        <p:spPr>
          <a:xfrm>
            <a:off x="1143000" y="4800600"/>
            <a:ext cx="310896" cy="31089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43000" y="4882896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1618488" y="477316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navigate it alone.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5724144" y="2450592"/>
            <a:ext cx="5084064" cy="3017520"/>
          </a:xfrm>
          <a:prstGeom prst="roundRect">
            <a:avLst>
              <a:gd name="adj" fmla="val 2424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2788920"/>
            <a:ext cx="4224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Why this belongs in the rally frame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053328" y="3401568"/>
            <a:ext cx="41879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Layoff language, timelines, bumping rights, and enforcement matter because job security is not automatic. Members protect it by knowing our rights and showing up together.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446520" y="4882896"/>
            <a:ext cx="327355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56248" y="5001768"/>
            <a:ext cx="3054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083stewards@seiu503.org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" y="6473952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Membership meeting | June 18,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2520" y="6473952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local083.org/rally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SEIU Local 503 at Oregon State University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7543800" y="3474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083 office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10835640" y="3474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658368" y="713232"/>
            <a:ext cx="1087221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987552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4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We have a new office</a:t>
            </a:r>
            <a:endParaRPr lang="en-US" sz="2614" dirty="0"/>
          </a:p>
        </p:txBody>
      </p:sp>
      <p:sp>
        <p:nvSpPr>
          <p:cNvPr id="7" name="Text 5"/>
          <p:cNvSpPr/>
          <p:nvPr/>
        </p:nvSpPr>
        <p:spPr>
          <a:xfrm>
            <a:off x="658368" y="1828800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organizing capacity: a place for questions, planning, outreach, and member follow-up.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560320"/>
            <a:ext cx="996696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4440" y="2999232"/>
            <a:ext cx="2423160" cy="1243584"/>
          </a:xfrm>
          <a:prstGeom prst="roundRect">
            <a:avLst>
              <a:gd name="adj" fmla="val 588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2186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Meet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44752" y="3566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 can talk through questions and next steps.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4297680" y="2999232"/>
            <a:ext cx="2423160" cy="1243584"/>
          </a:xfrm>
          <a:prstGeom prst="roundRect">
            <a:avLst>
              <a:gd name="adj" fmla="val 5882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07992" y="32186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Plan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07992" y="3566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can prep outreach, materials, and rally turnout.</a:t>
            </a:r>
            <a:endParaRPr lang="en-US" sz="1320" dirty="0"/>
          </a:p>
        </p:txBody>
      </p:sp>
      <p:sp>
        <p:nvSpPr>
          <p:cNvPr id="15" name="Shape 13"/>
          <p:cNvSpPr/>
          <p:nvPr/>
        </p:nvSpPr>
        <p:spPr>
          <a:xfrm>
            <a:off x="7360920" y="2999232"/>
            <a:ext cx="2423160" cy="1243584"/>
          </a:xfrm>
          <a:prstGeom prst="roundRect">
            <a:avLst>
              <a:gd name="adj" fmla="val 5882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71232" y="32186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Follow up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571232" y="3566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can connect members with stewards and leaders.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3072384" y="4736592"/>
            <a:ext cx="5440680" cy="457200"/>
          </a:xfrm>
          <a:prstGeom prst="roundRect">
            <a:avLst>
              <a:gd name="adj" fmla="val 16000"/>
            </a:avLst>
          </a:prstGeom>
          <a:solidFill>
            <a:srgbClr val="4C1D95"/>
          </a:solidFill>
          <a:ln w="12700">
            <a:solidFill>
              <a:srgbClr val="4C1D9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82112" y="4855464"/>
            <a:ext cx="5221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office to build the June 30 turnout plan.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8368" y="6473952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Membership meeting | June 18,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732520" y="6473952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local083.org/rally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SEIU Local 503 at Oregon State University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7543800" y="3474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Legislative outreach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10835640" y="3474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658368" y="713232"/>
            <a:ext cx="1087221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987552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4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Members need to talk with lawmakers</a:t>
            </a:r>
            <a:endParaRPr lang="en-US" sz="2614" dirty="0"/>
          </a:p>
        </p:txBody>
      </p:sp>
      <p:sp>
        <p:nvSpPr>
          <p:cNvPr id="7" name="Text 5"/>
          <p:cNvSpPr/>
          <p:nvPr/>
        </p:nvSpPr>
        <p:spPr>
          <a:xfrm>
            <a:off x="658368" y="1828800"/>
            <a:ext cx="8869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are looking for members to meet with Oregon House and Senate members before the rally.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487168"/>
            <a:ext cx="4754880" cy="2999232"/>
          </a:xfrm>
          <a:prstGeom prst="roundRect">
            <a:avLst>
              <a:gd name="adj" fmla="val 2439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2834640"/>
            <a:ext cx="40416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You do not need to be a policy expert.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143000" y="3822192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to be able to explain what your job is, what OSU workers are facing, and why this contract matters.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053328" y="2487168"/>
            <a:ext cx="4754880" cy="2999232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2512" y="2788920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STORIES LAWMAKERS NEED TO HEAR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0" y="3246120"/>
            <a:ext cx="3703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•"/>
            </a:pPr>
            <a:r>
              <a:rPr lang="en-US" sz="168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Wages and cost of living</a:t>
            </a:r>
            <a:endParaRPr lang="en-US" sz="1680" dirty="0"/>
          </a:p>
          <a:p>
            <a:pPr marL="190500" indent="-190500">
              <a:spcAft>
                <a:spcPts val="200"/>
              </a:spcAft>
              <a:buSzPct val="100000"/>
              <a:buChar char="•"/>
            </a:pPr>
            <a:r>
              <a:rPr lang="en-US" sz="168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 and workload</a:t>
            </a:r>
            <a:endParaRPr lang="en-US" sz="1680" dirty="0"/>
          </a:p>
          <a:p>
            <a:pPr marL="190500" indent="-190500">
              <a:spcAft>
                <a:spcPts val="200"/>
              </a:spcAft>
              <a:buSzPct val="100000"/>
              <a:buChar char="•"/>
            </a:pPr>
            <a:r>
              <a:rPr lang="en-US" sz="168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Layoffs and job security</a:t>
            </a:r>
            <a:endParaRPr lang="en-US" sz="1680" dirty="0"/>
          </a:p>
          <a:p>
            <a:pPr marL="190500" indent="-190500">
              <a:spcAft>
                <a:spcPts val="200"/>
              </a:spcAft>
              <a:buSzPct val="100000"/>
              <a:buChar char="•"/>
            </a:pPr>
            <a:r>
              <a:rPr lang="en-US" sz="168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classified staff keep OSU running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658368" y="6473952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Membership meeting | June 18,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732520" y="6473952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local083.org/rally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xsnjohnson/github/seiu-website/resources/zoom-backgrounds/2026-bargaining/SEIU-503-Bargaining-2026-Campus-Landscape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C1D95">
              <a:alpha val="66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86384" y="960120"/>
            <a:ext cx="6035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Sign-making party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822960" y="2029968"/>
            <a:ext cx="5440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E9D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Monday, June 29 | 5-7 p.m.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E9D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Westminster House on Monroe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3364992"/>
            <a:ext cx="5230368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15568" y="367588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Come make signs, bring a coworker, and help us get ready to show OSU that classified staff are organized for a fair contract.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41248" y="54864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The night before is part of the turnout plan.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xsnjohnson/github/seiu-website/resources/zoom-backgrounds/2026-bargaining/SEIU-503-Bargaining-2026-Fists-Landscape.png">    </p:cNvPr>
          <p:cNvPicPr>
            <a:picLocks noChangeAspect="1"/>
          </p:cNvPicPr>
          <p:nvPr/>
        </p:nvPicPr>
        <p:blipFill>
          <a:blip r:embed="rId1"/>
          <a:srcRect l="1" r="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C1D95">
              <a:alpha val="56000"/>
            </a:srgbClr>
          </a:solidFill>
          <a:ln w="12700">
            <a:solidFill>
              <a:srgbClr val="4C1D95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49808" y="841248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June 30: show up for our contract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786384" y="1956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9D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Tuesday, June 30 | Noon-1 p.m. | McNary Field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22960" y="2816352"/>
            <a:ext cx="521208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33856" y="3127248"/>
            <a:ext cx="44622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•"/>
            </a:pPr>
            <a:r>
              <a:rPr lang="en-US" sz="18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up now</a:t>
            </a:r>
            <a:endParaRPr lang="en-US" sz="1820" dirty="0"/>
          </a:p>
          <a:p>
            <a:pPr marL="190500" indent="-190500">
              <a:spcAft>
                <a:spcPts val="200"/>
              </a:spcAft>
              <a:buSzPct val="100000"/>
              <a:buChar char="•"/>
            </a:pPr>
            <a:r>
              <a:rPr lang="en-US" sz="18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Wear purple</a:t>
            </a:r>
            <a:endParaRPr lang="en-US" sz="1820" dirty="0"/>
          </a:p>
          <a:p>
            <a:pPr marL="190500" indent="-190500">
              <a:spcAft>
                <a:spcPts val="200"/>
              </a:spcAft>
              <a:buSzPct val="100000"/>
              <a:buChar char="•"/>
            </a:pPr>
            <a:r>
              <a:rPr lang="en-US" sz="18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one coworker</a:t>
            </a:r>
            <a:endParaRPr lang="en-US" sz="1820" dirty="0"/>
          </a:p>
          <a:p>
            <a:pPr marL="190500" indent="-190500">
              <a:spcAft>
                <a:spcPts val="200"/>
              </a:spcAft>
              <a:buSzPct val="100000"/>
              <a:buChar char="•"/>
            </a:pPr>
            <a:r>
              <a:rPr lang="en-US" sz="182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 turn out your work area</a:t>
            </a:r>
            <a:endParaRPr lang="en-US" sz="1820" dirty="0"/>
          </a:p>
        </p:txBody>
      </p:sp>
      <p:sp>
        <p:nvSpPr>
          <p:cNvPr id="8" name="Shape 5"/>
          <p:cNvSpPr/>
          <p:nvPr/>
        </p:nvSpPr>
        <p:spPr>
          <a:xfrm>
            <a:off x="7388352" y="2450592"/>
            <a:ext cx="3310128" cy="3429000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/Users/jaxsnjohnson/github/seiu-website/images/rally-signup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688" y="2743200"/>
            <a:ext cx="2514600" cy="2514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662672" y="5376672"/>
            <a:ext cx="2816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local083.org/rally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47472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SEIU Local 503 at Oregon State University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7543800" y="34747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Commitments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10835640" y="34747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658368" y="713232"/>
            <a:ext cx="10872216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987552"/>
            <a:ext cx="8686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4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Before you log off</a:t>
            </a:r>
            <a:endParaRPr lang="en-US" sz="2614" dirty="0"/>
          </a:p>
        </p:txBody>
      </p:sp>
      <p:sp>
        <p:nvSpPr>
          <p:cNvPr id="7" name="Text 5"/>
          <p:cNvSpPr/>
          <p:nvPr/>
        </p:nvSpPr>
        <p:spPr>
          <a:xfrm>
            <a:off x="658368" y="1828800"/>
            <a:ext cx="8869680" cy="5372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next step you can take before June 30.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87552" y="2642616"/>
            <a:ext cx="310896" cy="31089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72491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1463040" y="261518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up for the June 30 rally.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987552" y="3118104"/>
            <a:ext cx="310896" cy="31089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32004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1463040" y="3090672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one coworker with you.</a:t>
            </a:r>
            <a:endParaRPr lang="en-US" sz="1720" dirty="0"/>
          </a:p>
        </p:txBody>
      </p:sp>
      <p:sp>
        <p:nvSpPr>
          <p:cNvPr id="14" name="Shape 12"/>
          <p:cNvSpPr/>
          <p:nvPr/>
        </p:nvSpPr>
        <p:spPr>
          <a:xfrm>
            <a:off x="987552" y="3593592"/>
            <a:ext cx="310896" cy="31089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3675888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1463040" y="356616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Come to the June 29 sign-making party.</a:t>
            </a:r>
            <a:endParaRPr lang="en-US" sz="1720" dirty="0"/>
          </a:p>
        </p:txBody>
      </p:sp>
      <p:sp>
        <p:nvSpPr>
          <p:cNvPr id="17" name="Shape 15"/>
          <p:cNvSpPr/>
          <p:nvPr/>
        </p:nvSpPr>
        <p:spPr>
          <a:xfrm>
            <a:off x="987552" y="4069080"/>
            <a:ext cx="310896" cy="31089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4151376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1463040" y="404164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Volunteer for a legislative meeting.</a:t>
            </a:r>
            <a:endParaRPr lang="en-US" sz="1720" dirty="0"/>
          </a:p>
        </p:txBody>
      </p:sp>
      <p:sp>
        <p:nvSpPr>
          <p:cNvPr id="20" name="Shape 18"/>
          <p:cNvSpPr/>
          <p:nvPr/>
        </p:nvSpPr>
        <p:spPr>
          <a:xfrm>
            <a:off x="987552" y="4544568"/>
            <a:ext cx="310896" cy="31089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7552" y="4626864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1463040" y="451713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Talk to a steward if you have layoff questions.</a:t>
            </a:r>
            <a:endParaRPr lang="en-US" sz="1720" dirty="0"/>
          </a:p>
        </p:txBody>
      </p:sp>
      <p:sp>
        <p:nvSpPr>
          <p:cNvPr id="23" name="Shape 21"/>
          <p:cNvSpPr/>
          <p:nvPr/>
        </p:nvSpPr>
        <p:spPr>
          <a:xfrm>
            <a:off x="987552" y="5020056"/>
            <a:ext cx="310896" cy="310896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" y="510235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1463040" y="49926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2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 turn out your work area.</a:t>
            </a:r>
            <a:endParaRPr lang="en-US" sz="1720" dirty="0"/>
          </a:p>
        </p:txBody>
      </p:sp>
      <p:sp>
        <p:nvSpPr>
          <p:cNvPr id="26" name="Shape 24"/>
          <p:cNvSpPr/>
          <p:nvPr/>
        </p:nvSpPr>
        <p:spPr>
          <a:xfrm>
            <a:off x="7543800" y="2468880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0" y="2788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Contact paths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7863840" y="3310128"/>
            <a:ext cx="2578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6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083execteam@seiu503.org</a:t>
            </a:r>
            <a:endParaRPr lang="en-US" sz="1460" dirty="0"/>
          </a:p>
          <a:p>
            <a:pPr indent="0" marL="0">
              <a:buNone/>
            </a:pPr>
            <a:r>
              <a:rPr lang="en-US" sz="146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083stewards@seiu503.org</a:t>
            </a:r>
            <a:endParaRPr lang="en-US" sz="1460" dirty="0"/>
          </a:p>
        </p:txBody>
      </p:sp>
      <p:sp>
        <p:nvSpPr>
          <p:cNvPr id="29" name="Shape 27"/>
          <p:cNvSpPr/>
          <p:nvPr/>
        </p:nvSpPr>
        <p:spPr>
          <a:xfrm>
            <a:off x="822960" y="5715000"/>
            <a:ext cx="9966960" cy="493776"/>
          </a:xfrm>
          <a:prstGeom prst="roundRect">
            <a:avLst>
              <a:gd name="adj" fmla="val 14815"/>
            </a:avLst>
          </a:prstGeom>
          <a:solidFill>
            <a:srgbClr val="4C1D95"/>
          </a:solidFill>
          <a:ln w="12700">
            <a:solidFill>
              <a:srgbClr val="4C1D9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15568" y="5870448"/>
            <a:ext cx="9326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contract is stronger when members show up together.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658368" y="6473952"/>
            <a:ext cx="3383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Membership meeting | June 18,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732520" y="6473952"/>
            <a:ext cx="2514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4C1D9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local083.org/rally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or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SEIU Local 503 at Oregon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Membership Meeting June 18 2026</dc:title>
  <dc:subject>Membership meeting deck for June 18, 2026</dc:subject>
  <dc:creator>SEIU Local 503 Sublocal 083</dc:creator>
  <cp:lastModifiedBy>SEIU Local 503 Sublocal 083</cp:lastModifiedBy>
  <cp:revision>1</cp:revision>
  <dcterms:created xsi:type="dcterms:W3CDTF">2026-06-17T20:34:03Z</dcterms:created>
  <dcterms:modified xsi:type="dcterms:W3CDTF">2026-06-17T20:34:03Z</dcterms:modified>
</cp:coreProperties>
</file>